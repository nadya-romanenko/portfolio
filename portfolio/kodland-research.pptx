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0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640080"/>
            <a:ext cx="2743200" cy="2743200"/>
          </a:xfrm>
          <a:prstGeom prst="ellipse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94"/>
                </a:solidFill>
                <a:latin typeface="Calibri"/>
              </a:rPr>
              <a:t>MARKET RESEARCH  •  LAUNCH STRATEGY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728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Arial Black"/>
              </a:rPr>
              <a:t>Kodland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00FF94"/>
                </a:solidFill>
                <a:latin typeface="Arial Black"/>
              </a:rPr>
              <a:t>Admissions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CCDD"/>
                </a:solidFill>
                <a:latin typeface="Calibri"/>
              </a:rPr>
              <a:t>Исследование рынка и стратегия запуска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600"/>
                </a:solidFill>
                <a:latin typeface="Calibri"/>
              </a:rPr>
              <a:t>Апрель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263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080"/>
                </a:solidFill>
                <a:latin typeface="Calibri"/>
              </a:rPr>
              <a:t>CONFIDENTIAL — INTERNAL STRATEGY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VISION &amp;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5029200"/>
          </a:xfrm>
          <a:prstGeom prst="rect">
            <a:avLst/>
          </a:prstGeom>
          <a:solidFill>
            <a:srgbClr val="12183A"/>
          </a:solidFill>
          <a:ln w="1905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94"/>
                </a:solidFill>
                <a:latin typeface="Arial Black"/>
              </a:rPr>
              <a:t>МИССИЯ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01752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Демократизировать доступ
к топ-университетам через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3657600" cy="5029200"/>
          </a:xfrm>
          <a:prstGeom prst="rect">
            <a:avLst/>
          </a:prstGeom>
          <a:solidFill>
            <a:srgbClr val="12183A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  <a:latin typeface="Arial Black"/>
              </a:rPr>
              <a:t>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514600"/>
            <a:ext cx="301752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6060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Стать лидером Admissions 2.0 —
заменить дорогих консультантов
единым AI-интерфейсом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5029200"/>
          </a:xfrm>
          <a:prstGeom prst="rect">
            <a:avLst/>
          </a:prstGeom>
          <a:solidFill>
            <a:srgbClr val="12183A"/>
          </a:solidFill>
          <a:ln w="1905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94"/>
                </a:solidFill>
                <a:latin typeface="Arial Black"/>
              </a:rPr>
              <a:t>КЛЮЧЕВОЙ СДВИГ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514600"/>
            <a:ext cx="301752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6060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От продажи человеко-часов
→ к масштабируемой технологии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РЫНОК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188720"/>
            <a:ext cx="5303520" cy="5303520"/>
          </a:xfrm>
          <a:prstGeom prst="ellipse">
            <a:avLst/>
          </a:prstGeom>
          <a:solidFill>
            <a:srgbClr val="081235"/>
          </a:solidFill>
          <a:ln w="127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1828800"/>
            <a:ext cx="3840480" cy="3840480"/>
          </a:xfrm>
          <a:prstGeom prst="ellipse">
            <a:avLst/>
          </a:prstGeom>
          <a:solidFill>
            <a:srgbClr val="0A1840"/>
          </a:solidFill>
          <a:ln w="127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0" y="2606040"/>
            <a:ext cx="2286000" cy="2286000"/>
          </a:xfrm>
          <a:prstGeom prst="ellipse">
            <a:avLst/>
          </a:prstGeom>
          <a:solidFill>
            <a:srgbClr val="003A22"/>
          </a:solidFill>
          <a:ln w="127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Black"/>
              </a:rPr>
              <a:t>$2.3B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DD"/>
                </a:solidFill>
                <a:latin typeface="Calibri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FF94"/>
                </a:solidFill>
                <a:latin typeface="Arial Black"/>
              </a:rPr>
              <a:t>$200-250M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37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CCDD"/>
                </a:solidFill>
                <a:latin typeface="Calibr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600"/>
                </a:solidFill>
                <a:latin typeface="Arial Black"/>
              </a:rPr>
              <a:t>$2-5M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600"/>
                </a:solidFill>
                <a:latin typeface="Calibri"/>
              </a:rPr>
              <a:t>SOM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54864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371600"/>
            <a:ext cx="530352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94"/>
                </a:solidFill>
                <a:latin typeface="Arial Black"/>
              </a:rPr>
              <a:t>TAM  — $2,3 млрд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Глобальный рынок admissions consulting
CAGR 12,8% ежегодно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54864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2926080"/>
            <a:ext cx="530352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600"/>
                </a:solidFill>
                <a:latin typeface="Arial Black"/>
              </a:rPr>
              <a:t>SAM  — $200–250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74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Онлайн + UK/USA/Канада + AI-ready аудитория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480560"/>
            <a:ext cx="54864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480560"/>
            <a:ext cx="5303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SOM  — $2–5 млн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29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Реалистичная цель к году 3–5
(1 200–5 000 семей)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669280"/>
            <a:ext cx="5486400" cy="822960"/>
          </a:xfrm>
          <a:prstGeom prst="rect">
            <a:avLst/>
          </a:prstGeom>
          <a:solidFill>
            <a:srgbClr val="003A10"/>
          </a:solidFill>
          <a:ln w="127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7150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94"/>
                </a:solidFill>
                <a:latin typeface="Calibri"/>
              </a:rPr>
              <a:t>⚡ Инсайт: рынок фрагментирован — ни одна компания не имеет &gt;5% доли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ЦЕЛЕВАЯ АУДИТОРИЯ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5303520"/>
          </a:xfrm>
          <a:prstGeom prst="rect">
            <a:avLst/>
          </a:prstGeom>
          <a:solidFill>
            <a:srgbClr val="12183A"/>
          </a:solidFill>
          <a:ln w="254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94"/>
                </a:solidFill>
                <a:latin typeface="Arial Black"/>
              </a:rPr>
              <a:t>СЕГМЕНТ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Русскоязычные семьи
СНГ / Европы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54680"/>
            <a:ext cx="484632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337560"/>
            <a:ext cx="4937760" cy="1143000"/>
          </a:xfrm>
          <a:prstGeom prst="rect">
            <a:avLst/>
          </a:prstGeom>
          <a:solidFill>
            <a:srgbClr val="0F1430"/>
          </a:solidFill>
          <a:ln w="12700">
            <a:solidFill>
              <a:srgbClr val="25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FF94"/>
                </a:solidFill>
                <a:latin typeface="Arial Black"/>
              </a:rPr>
              <a:t>БАРЬЕР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8503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Не понимают систему
поступления, нет инструмента
на родном языке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09160"/>
            <a:ext cx="4937760" cy="1143000"/>
          </a:xfrm>
          <a:prstGeom prst="rect">
            <a:avLst/>
          </a:prstGeom>
          <a:solidFill>
            <a:srgbClr val="0F1430"/>
          </a:solidFill>
          <a:ln w="12700">
            <a:solidFill>
              <a:srgbClr val="25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FF94"/>
                </a:solidFill>
                <a:latin typeface="Arial Black"/>
              </a:rPr>
              <a:t>РАЗМЕР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5663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25 млн+ диаспора
650К новых эмигрантов
2022–2024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1928" y="1188720"/>
            <a:ext cx="5577840" cy="5303520"/>
          </a:xfrm>
          <a:prstGeom prst="rect">
            <a:avLst/>
          </a:prstGeom>
          <a:solidFill>
            <a:srgbClr val="1218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Arial Black"/>
              </a:rPr>
              <a:t>СЕГМЕНТ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331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Международные семьи
UK / USA / Канада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6248" y="3154680"/>
            <a:ext cx="484632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6248" y="3337560"/>
            <a:ext cx="4937760" cy="1143000"/>
          </a:xfrm>
          <a:prstGeom prst="rect">
            <a:avLst/>
          </a:prstGeom>
          <a:solidFill>
            <a:srgbClr val="0F1430"/>
          </a:solidFill>
          <a:ln w="12700">
            <a:solidFill>
              <a:srgbClr val="25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600"/>
                </a:solidFill>
                <a:latin typeface="Arial Black"/>
              </a:rPr>
              <a:t>БАРЬЕР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368503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Консультанты стоят
$25 000–60 000 —
недоступно большинству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6248" y="4709160"/>
            <a:ext cx="4937760" cy="1143000"/>
          </a:xfrm>
          <a:prstGeom prst="rect">
            <a:avLst/>
          </a:prstGeom>
          <a:solidFill>
            <a:srgbClr val="0F1430"/>
          </a:solidFill>
          <a:ln w="12700">
            <a:solidFill>
              <a:srgbClr val="25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600"/>
                </a:solidFill>
                <a:latin typeface="Arial Black"/>
              </a:rPr>
              <a:t>РАЗМЕР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505663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3,2 млн иностранных
студентов в трёх
странах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КОНКУРЕНТНЫЙ АНАЛИЗ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240280" cy="4389120"/>
          </a:xfrm>
          <a:prstGeom prst="rect">
            <a:avLst/>
          </a:prstGeom>
          <a:solidFill>
            <a:srgbClr val="301010"/>
          </a:solidFill>
          <a:ln w="1270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IvyWise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  <a:latin typeface="Calibri"/>
              </a:rPr>
              <a:t>от $14 000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86000"/>
            <a:ext cx="1965960" cy="36576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Только люди, нет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754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555"/>
                </a:solidFill>
                <a:latin typeface="Calibri"/>
              </a:rPr>
              <a:t>❌ No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188720"/>
            <a:ext cx="2240280" cy="4389120"/>
          </a:xfrm>
          <a:prstGeom prst="rect">
            <a:avLst/>
          </a:prstGeom>
          <a:solidFill>
            <a:srgbClr val="301010"/>
          </a:solidFill>
          <a:ln w="1270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3716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Crimson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8745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  <a:latin typeface="Calibri"/>
              </a:rPr>
              <a:t>$25 000–60 000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286000"/>
            <a:ext cx="1965960" cy="36576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242316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Рейтинг 1,7/5
Текучка кураторов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4754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555"/>
                </a:solidFill>
                <a:latin typeface="Calibri"/>
              </a:rPr>
              <a:t>❌ No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4336" y="1188720"/>
            <a:ext cx="2240280" cy="4389120"/>
          </a:xfrm>
          <a:prstGeom prst="rect">
            <a:avLst/>
          </a:prstGeom>
          <a:solidFill>
            <a:srgbClr val="102810"/>
          </a:solidFill>
          <a:ln w="1270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13716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Kollegio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18745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  <a:latin typeface="Calibri"/>
              </a:rPr>
              <a:t>Бесплатно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1496" y="2286000"/>
            <a:ext cx="1965960" cy="36576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1496" y="242316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Только США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4754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94"/>
                </a:solidFill>
                <a:latin typeface="Calibri"/>
              </a:rPr>
              <a:t>✅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24344" y="1188720"/>
            <a:ext cx="2240280" cy="4389120"/>
          </a:xfrm>
          <a:prstGeom prst="rect">
            <a:avLst/>
          </a:prstGeom>
          <a:solidFill>
            <a:srgbClr val="252005"/>
          </a:solidFill>
          <a:ln w="1270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13716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ESAI / Sups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18745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  <a:latin typeface="Calibri"/>
              </a:rPr>
              <a:t>Средний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61504" y="2286000"/>
            <a:ext cx="1965960" cy="36576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1504" y="242316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Только эссе, только США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4754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555"/>
                </a:solidFill>
                <a:latin typeface="Calibri"/>
              </a:rPr>
              <a:t>⚠️ Partial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4352" y="1188720"/>
            <a:ext cx="2240280" cy="4389120"/>
          </a:xfrm>
          <a:prstGeom prst="rect">
            <a:avLst/>
          </a:prstGeom>
          <a:solidFill>
            <a:srgbClr val="301010"/>
          </a:solidFill>
          <a:ln w="1270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1512" y="13716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RU Агентства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2" y="18745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  <a:latin typeface="Calibri"/>
              </a:rPr>
              <a:t>от 30 000 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11512" y="2286000"/>
            <a:ext cx="1965960" cy="36576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11512" y="242316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Нет AI ни у одного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4754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555"/>
                </a:solidFill>
                <a:latin typeface="Calibri"/>
              </a:rPr>
              <a:t>❌ No 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669280"/>
            <a:ext cx="11612880" cy="868680"/>
          </a:xfrm>
          <a:prstGeom prst="rect">
            <a:avLst/>
          </a:prstGeom>
          <a:solidFill>
            <a:srgbClr val="003018"/>
          </a:solidFill>
          <a:ln w="254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7424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94"/>
                </a:solidFill>
                <a:latin typeface="Arial Black"/>
              </a:rPr>
              <a:t>🏆 НИША ПУСТАЯ:  AI + UK/USA/Канада + Русский язык = 0 КОНКУРЕНТОВ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НЕЗАКРЫТЫЕ БОЛИ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Реальные цитаты из исследования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2377440"/>
          </a:xfrm>
          <a:prstGeom prst="rect">
            <a:avLst/>
          </a:prstGeom>
          <a:solidFill>
            <a:srgbClr val="12183A"/>
          </a:solidFill>
          <a:ln w="254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«Консультант гуглил требования вуза на звонке. За $400/час»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63239"/>
            <a:ext cx="502920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94"/>
                </a:solidFill>
                <a:latin typeface="Calibri"/>
              </a:rPr>
              <a:t>Прозрачность &amp; Компетентность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88720"/>
            <a:ext cx="5577840" cy="2377440"/>
          </a:xfrm>
          <a:prstGeom prst="rect">
            <a:avLst/>
          </a:prstGeom>
          <a:solidFill>
            <a:srgbClr val="1218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D600"/>
                </a:solidFill>
                <a:latin typeface="Arial Black"/>
              </a:rPr>
              <a:t>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«За 8 месяцев сменилось три куратора»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063239"/>
            <a:ext cx="502920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  <a:latin typeface="Calibri"/>
              </a:rPr>
              <a:t>Надёжность &amp; Continuity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5577840" cy="2377440"/>
          </a:xfrm>
          <a:prstGeom prst="rect">
            <a:avLst/>
          </a:prstGeom>
          <a:solidFill>
            <a:srgbClr val="12183A"/>
          </a:solidFill>
          <a:ln w="254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«Нигде нет реальных цен — узнаёшь только на звонке-продаже»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06439"/>
            <a:ext cx="502920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897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94"/>
                </a:solidFill>
                <a:latin typeface="Calibri"/>
              </a:rPr>
              <a:t>Ценообразование &amp; Доверие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931920"/>
            <a:ext cx="5577840" cy="2377440"/>
          </a:xfrm>
          <a:prstGeom prst="rect">
            <a:avLst/>
          </a:prstGeom>
          <a:solidFill>
            <a:srgbClr val="1218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23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D600"/>
                </a:solidFill>
                <a:latin typeface="Arial Black"/>
              </a:rPr>
              <a:t>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2628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«Прочитала 50 постов и теперь знаю меньше, чем до этого»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5806439"/>
            <a:ext cx="502920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897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  <a:latin typeface="Calibri"/>
              </a:rPr>
              <a:t>Информационный хаос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БИЗНЕС-МОДЕЛЬ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669280" cy="2377440"/>
          </a:xfrm>
          <a:prstGeom prst="rect">
            <a:avLst/>
          </a:prstGeom>
          <a:solidFill>
            <a:srgbClr val="12183A"/>
          </a:solidFill>
          <a:ln w="1905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94360" cy="594360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0E27"/>
                </a:solidFill>
                <a:latin typeface="Arial Black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94"/>
                </a:solidFill>
                <a:latin typeface="Arial Black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37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 Black"/>
              </a:rPr>
              <a:t>AI-Admissions Navigator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521208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SaaS-платформа + живой эксперт на финальном этапе
AI автоматизирует подбор вузов, анализ эссе, трекинг дедлайнов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234440"/>
            <a:ext cx="5669280" cy="2377440"/>
          </a:xfrm>
          <a:prstGeom prst="rect">
            <a:avLst/>
          </a:prstGeom>
          <a:solidFill>
            <a:srgbClr val="12183A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39" y="1417320"/>
            <a:ext cx="594360" cy="5943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39" y="13898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0E27"/>
                </a:solidFill>
                <a:latin typeface="Arial Black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Arial Black"/>
              </a:rPr>
              <a:t>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1737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 Black"/>
              </a:rPr>
              <a:t>$49–149/мес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39" y="2240280"/>
            <a:ext cx="521208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39" y="23317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vs $25 000+ у традиционных конкурентов
Доступность без потери качества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31920"/>
            <a:ext cx="5669280" cy="2377440"/>
          </a:xfrm>
          <a:prstGeom prst="rect">
            <a:avLst/>
          </a:prstGeom>
          <a:solidFill>
            <a:srgbClr val="12183A"/>
          </a:solidFill>
          <a:ln w="1905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14800"/>
            <a:ext cx="594360" cy="594360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873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0E27"/>
                </a:solidFill>
                <a:latin typeface="Arial Black"/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94"/>
                </a:solidFill>
                <a:latin typeface="Arial Black"/>
              </a:rPr>
              <a:t>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434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 Black"/>
              </a:rPr>
              <a:t>Remote-first, глобально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37760"/>
            <a:ext cx="521208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Без привязки к локации — работаем с любой точки мира
Асинхронное взаимодействие через платформу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3931920"/>
            <a:ext cx="5669280" cy="2377440"/>
          </a:xfrm>
          <a:prstGeom prst="rect">
            <a:avLst/>
          </a:prstGeom>
          <a:solidFill>
            <a:srgbClr val="12183A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39" y="4114800"/>
            <a:ext cx="594360" cy="5943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39" y="40873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0E27"/>
                </a:solidFill>
                <a:latin typeface="Arial Black"/>
              </a:rPr>
              <a:t>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59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Arial Black"/>
              </a:rPr>
              <a:t>PROMOTION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59" y="4434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 Black"/>
              </a:rPr>
              <a:t>Контент + Сообщества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39" y="4937760"/>
            <a:ext cx="521208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39" y="50292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Контент-маркетинг (TikTok/IG/Telegram)
Диаспорные сообщества + партнёрства со школами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ROADMAP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40"/>
            <a:ext cx="11247120" cy="73152"/>
          </a:xfrm>
          <a:prstGeom prst="rect">
            <a:avLst/>
          </a:prstGeom>
          <a:solidFill>
            <a:srgbClr val="2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3127248"/>
            <a:ext cx="320040" cy="320040"/>
          </a:xfrm>
          <a:prstGeom prst="ellipse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0" cy="1920240"/>
          </a:xfrm>
          <a:prstGeom prst="rect">
            <a:avLst/>
          </a:prstGeom>
          <a:solidFill>
            <a:srgbClr val="12183A"/>
          </a:solidFill>
          <a:ln w="1905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FF94"/>
                </a:solidFill>
                <a:latin typeface="Arial Black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Manual MVP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55648"/>
            <a:ext cx="320040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4708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Валидация гипотез
Консультанты работают руками
Собираем реальный фидбек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3657600" cy="2560320"/>
          </a:xfrm>
          <a:prstGeom prst="rect">
            <a:avLst/>
          </a:prstGeom>
          <a:solidFill>
            <a:srgbClr val="0F1430"/>
          </a:solidFill>
          <a:ln w="12700">
            <a:solidFill>
              <a:srgbClr val="25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3127248"/>
            <a:ext cx="320040" cy="32004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188720"/>
            <a:ext cx="3657600" cy="1920240"/>
          </a:xfrm>
          <a:prstGeom prst="rect">
            <a:avLst/>
          </a:prstGeom>
          <a:solidFill>
            <a:srgbClr val="12183A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6187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D600"/>
                </a:solidFill>
                <a:latin typeface="Arial Black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Semi-Automated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755648"/>
            <a:ext cx="320040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84708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AI-агенты для подбора вузов
Primary review эссе
→ Экономия 70% времени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657600"/>
            <a:ext cx="3657600" cy="2560320"/>
          </a:xfrm>
          <a:prstGeom prst="rect">
            <a:avLst/>
          </a:prstGeom>
          <a:solidFill>
            <a:srgbClr val="0F1430"/>
          </a:solidFill>
          <a:ln w="12700">
            <a:solidFill>
              <a:srgbClr val="25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58199" y="3127248"/>
            <a:ext cx="320040" cy="320040"/>
          </a:xfrm>
          <a:prstGeom prst="ellipse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188720"/>
            <a:ext cx="3657600" cy="1920240"/>
          </a:xfrm>
          <a:prstGeom prst="rect">
            <a:avLst/>
          </a:prstGeom>
          <a:solidFill>
            <a:srgbClr val="12183A"/>
          </a:solidFill>
          <a:ln w="1905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126187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FF94"/>
                </a:solidFill>
                <a:latin typeface="Arial Black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Full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59" y="1755648"/>
            <a:ext cx="320040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184708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Полная автоматизация
Эксперт — только финальный approve
Стоимость клиента: $150 → $15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657600"/>
            <a:ext cx="3657600" cy="2560320"/>
          </a:xfrm>
          <a:prstGeom prst="rect">
            <a:avLst/>
          </a:prstGeom>
          <a:solidFill>
            <a:srgbClr val="0F1430"/>
          </a:solidFill>
          <a:ln w="12700">
            <a:solidFill>
              <a:srgbClr val="25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3657600" cy="2377440"/>
          </a:xfrm>
          <a:prstGeom prst="rect">
            <a:avLst/>
          </a:prstGeom>
          <a:solidFill>
            <a:srgbClr val="0F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94"/>
                </a:solidFill>
                <a:latin typeface="Arial Black"/>
              </a:rPr>
              <a:t>МЕТРИКА РОСТА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51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Стоимость обслуживания
1 клиента падает
$150 → $15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3749039"/>
            <a:ext cx="7635240" cy="2377440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3749039"/>
            <a:ext cx="7635240" cy="2377440"/>
          </a:xfrm>
          <a:prstGeom prst="rect">
            <a:avLst/>
          </a:prstGeom>
          <a:solidFill>
            <a:srgbClr val="0F143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384048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5555"/>
                </a:solidFill>
                <a:latin typeface="Arial Black"/>
              </a:rPr>
              <a:t>🛑  МЕТРИКА ОСТАНОВКИ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25196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  <a:latin typeface="Calibri"/>
              </a:rPr>
              <a:t>Если конверсия в оплату &lt;3% после 90 дней теста — пересматриваем гипотезу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КОМАНДА ЗАПУСКА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4937760"/>
          </a:xfrm>
          <a:prstGeom prst="rect">
            <a:avLst/>
          </a:prstGeom>
          <a:solidFill>
            <a:srgbClr val="12183A"/>
          </a:solidFill>
          <a:ln w="254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417320"/>
            <a:ext cx="1097280" cy="1097280"/>
          </a:xfrm>
          <a:prstGeom prst="ellipse">
            <a:avLst/>
          </a:prstGeom>
          <a:solidFill>
            <a:srgbClr val="122040"/>
          </a:solidFill>
          <a:ln w="254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4630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Black"/>
              </a:rPr>
              <a:t>Founding Product Lead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560320"/>
            <a:ext cx="5212080" cy="36576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697480"/>
            <a:ext cx="1069848" cy="347472"/>
          </a:xfrm>
          <a:prstGeom prst="rect">
            <a:avLst/>
          </a:prstGeom>
          <a:solidFill>
            <a:srgbClr val="122040"/>
          </a:solidFill>
          <a:ln w="127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5768"/>
            <a:ext cx="886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94"/>
                </a:solidFill>
                <a:latin typeface="Calibri"/>
              </a:rPr>
              <a:t>Продукт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1368" y="2697480"/>
            <a:ext cx="1271016" cy="347472"/>
          </a:xfrm>
          <a:prstGeom prst="rect">
            <a:avLst/>
          </a:prstGeom>
          <a:solidFill>
            <a:srgbClr val="122040"/>
          </a:solidFill>
          <a:ln w="127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92808" y="2715768"/>
            <a:ext cx="1088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94"/>
                </a:solidFill>
                <a:latin typeface="Calibri"/>
              </a:rPr>
              <a:t>Стратегия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9544" y="2697480"/>
            <a:ext cx="1572768" cy="347472"/>
          </a:xfrm>
          <a:prstGeom prst="rect">
            <a:avLst/>
          </a:prstGeom>
          <a:solidFill>
            <a:srgbClr val="122040"/>
          </a:solidFill>
          <a:ln w="127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0984" y="2715768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94"/>
                </a:solidFill>
                <a:latin typeface="Calibri"/>
              </a:rPr>
              <a:t>Исследования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9472" y="2697480"/>
            <a:ext cx="667512" cy="347472"/>
          </a:xfrm>
          <a:prstGeom prst="rect">
            <a:avLst/>
          </a:prstGeom>
          <a:solidFill>
            <a:srgbClr val="122040"/>
          </a:solidFill>
          <a:ln w="127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2715768"/>
            <a:ext cx="48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94"/>
                </a:solidFill>
                <a:latin typeface="Calibri"/>
              </a:rPr>
              <a:t>GTM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004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Отвечает за продуктовое видение, рыночную стратегию и вывод на рынок. Держит связь между пользователем и технологией.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188720"/>
            <a:ext cx="5669280" cy="4937760"/>
          </a:xfrm>
          <a:prstGeom prst="rect">
            <a:avLst/>
          </a:prstGeom>
          <a:solidFill>
            <a:srgbClr val="1218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417320"/>
            <a:ext cx="1097280" cy="1097280"/>
          </a:xfrm>
          <a:prstGeom prst="ellipse">
            <a:avLst/>
          </a:prstGeom>
          <a:solidFill>
            <a:srgbClr val="122040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14630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Black"/>
              </a:rPr>
              <a:t>AI Engineer / Technical Co-builder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60320"/>
            <a:ext cx="521208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697480"/>
            <a:ext cx="1271016" cy="347472"/>
          </a:xfrm>
          <a:prstGeom prst="rect">
            <a:avLst/>
          </a:prstGeom>
          <a:solidFill>
            <a:srgbClr val="12204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715768"/>
            <a:ext cx="1088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Calibri"/>
              </a:rPr>
              <a:t>AI Agents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8976" y="2697480"/>
            <a:ext cx="1371600" cy="347472"/>
          </a:xfrm>
          <a:prstGeom prst="rect">
            <a:avLst/>
          </a:prstGeom>
          <a:solidFill>
            <a:srgbClr val="12204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0416" y="27157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Calibri"/>
              </a:rPr>
              <a:t>Интеграции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17736" y="2697480"/>
            <a:ext cx="667512" cy="347472"/>
          </a:xfrm>
          <a:prstGeom prst="rect">
            <a:avLst/>
          </a:prstGeom>
          <a:solidFill>
            <a:srgbClr val="12204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9176" y="2715768"/>
            <a:ext cx="48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Calibri"/>
              </a:rPr>
              <a:t>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22408" y="2697480"/>
            <a:ext cx="1673352" cy="347472"/>
          </a:xfrm>
          <a:prstGeom prst="rect">
            <a:avLst/>
          </a:prstGeom>
          <a:solidFill>
            <a:srgbClr val="12204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13848" y="2715768"/>
            <a:ext cx="1490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Calibri"/>
              </a:rPr>
              <a:t>Автоматизация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004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Строит AI-агентов руками: интеграции, автоматизация пайплайнов, API. Без этого человека продукт существует только на бумаге.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263640"/>
            <a:ext cx="11430000" cy="475488"/>
          </a:xfrm>
          <a:prstGeom prst="rect">
            <a:avLst/>
          </a:prstGeom>
          <a:solidFill>
            <a:srgbClr val="0A1630"/>
          </a:solidFill>
          <a:ln w="12700">
            <a:solidFill>
              <a:srgbClr val="25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3093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Calibri"/>
              </a:rPr>
              <a:t>📈  На этапе роста:  трафик-менеджеры под конкретные каналы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457200"/>
            <a:ext cx="6400800" cy="6400800"/>
          </a:xfrm>
          <a:prstGeom prst="ellipse">
            <a:avLst/>
          </a:prstGeom>
          <a:solidFill>
            <a:srgbClr val="002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94"/>
                </a:solidFill>
                <a:latin typeface="Arial Black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СЛЕДУЮЩИЙ ШАГ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6858000" cy="1005840"/>
          </a:xfrm>
          <a:prstGeom prst="rect">
            <a:avLst/>
          </a:prstGeom>
          <a:solidFill>
            <a:srgbClr val="00F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0E27"/>
                </a:solidFill>
                <a:latin typeface="Arial Black"/>
              </a:rPr>
              <a:t>Запустить 90-дневный эксперимент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94"/>
                </a:solidFill>
                <a:latin typeface="Arial Black"/>
              </a:rPr>
              <a:t>ГИПОТЕЗА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6858000" cy="1463040"/>
          </a:xfrm>
          <a:prstGeom prst="rect">
            <a:avLst/>
          </a:prstGeom>
          <a:solidFill>
            <a:srgbClr val="12183A"/>
          </a:solidFill>
          <a:ln w="25400">
            <a:solidFill>
              <a:srgbClr val="00F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600"/>
                </a:solidFill>
                <a:latin typeface="Arial Black"/>
              </a:rPr>
              <a:t>50 семей  ×  $99/мес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3931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= $4 950 MRR  как Proof of Concept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685800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Решение о масштабировании — на основе данных, не интуиции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371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FF94"/>
                </a:solidFill>
                <a:latin typeface="Arial Black"/>
              </a:rPr>
              <a:t>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1828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  <a:latin typeface="Calibri"/>
              </a:rPr>
              <a:t>дней
теста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514600"/>
            <a:ext cx="4023360" cy="36576"/>
          </a:xfrm>
          <a:prstGeom prst="rect">
            <a:avLst/>
          </a:prstGeom>
          <a:solidFill>
            <a:srgbClr val="2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063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D600"/>
                </a:solidFill>
                <a:latin typeface="Arial Black"/>
              </a:rP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  <a:latin typeface="Calibri"/>
              </a:rPr>
              <a:t>семей
в пилоте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206240"/>
            <a:ext cx="4023360" cy="36576"/>
          </a:xfrm>
          <a:prstGeom prst="rect">
            <a:avLst/>
          </a:prstGeom>
          <a:solidFill>
            <a:srgbClr val="2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754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FF94"/>
                </a:solidFill>
                <a:latin typeface="Arial Black"/>
              </a:rPr>
              <a:t>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5212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  <a:latin typeface="Calibri"/>
              </a:rPr>
              <a:t>мин.
конверсия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5897880"/>
            <a:ext cx="4023360" cy="36576"/>
          </a:xfrm>
          <a:prstGeom prst="rect">
            <a:avLst/>
          </a:prstGeom>
          <a:solidFill>
            <a:srgbClr val="2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55070"/>
                </a:solidFill>
                <a:latin typeface="Calibri"/>
              </a:rPr>
              <a:t>Kodland Admissions AI  •  Апрель 2026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
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28016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IT Career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601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rial"/>
              </a:rPr>
              <a:t>IT Career Hub: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3317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Arial"/>
              </a:rPr>
              <a:t>анализ рынка и стратегия роста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154680"/>
            <a:ext cx="4114800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337560"/>
            <a:ext cx="7315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i="0">
                <a:solidFill>
                  <a:srgbClr val="AABBCC"/>
                </a:solidFill>
                <a:latin typeface="Arial"/>
              </a:rPr>
              <a:t>Маркетинговый аудит · Май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862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Надя Романенко — PMM / Growth Marketing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Рынок: масштаб возможности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474720" cy="329184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2CC84B"/>
                </a:solidFill>
                <a:latin typeface="Arial"/>
              </a:rPr>
              <a:t>25,2 млн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людей с миграционным
фоном в Германии
(30% населения)</a:t>
            </a:r>
          </a:p>
        </p:txBody>
      </p:sp>
      <p:sp>
        <p:nvSpPr>
          <p:cNvPr id="7" name="Rectangle 6"/>
          <p:cNvSpPr/>
          <p:nvPr/>
        </p:nvSpPr>
        <p:spPr>
          <a:xfrm>
            <a:off x="4187952" y="914400"/>
            <a:ext cx="3474720" cy="329184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70832" y="11887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2CC84B"/>
                </a:solidFill>
                <a:latin typeface="Arial"/>
              </a:rPr>
              <a:t>800 000–
1 млн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233172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зарегистрированных
безработных иностранцев
→ право на Bildungsgutschein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18704" y="914400"/>
            <a:ext cx="3474720" cy="329184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01584" y="11887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2CC84B"/>
                </a:solidFill>
                <a:latin typeface="Arial"/>
              </a:rPr>
              <a:t>109 000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4" y="2331720"/>
            <a:ext cx="3108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незакрытых IT-вакансий
в Германии
(Bitkom 2025)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1247120" cy="685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Arial"/>
              </a:rPr>
              <a:t>Структурный дефицит IT-кадров + волна мигрантов = окно возможностей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TAM / SAM / SOM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11247120" cy="50292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TAM: ~3 млрд 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Весь рынок Bildungsgutschein-переобучения в Германии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1737360"/>
            <a:ext cx="9966960" cy="3566160"/>
          </a:xfrm>
          <a:prstGeom prst="rect">
            <a:avLst/>
          </a:prstGeom>
          <a:solidFill>
            <a:srgbClr val="CC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2880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SAM: 80 000–120 000 чел/год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IT-курсы для мигрантов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2606040"/>
            <a:ext cx="7589520" cy="20116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697480"/>
            <a:ext cx="72237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SOM: 5 000–15 000 чел/год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63240"/>
            <a:ext cx="7223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Русскоязычная аудитория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08076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CC84B"/>
                </a:solidFill>
                <a:latin typeface="Arial"/>
              </a:rPr>
              <a:t>→ IT Career Hub сейчас работает на SOM. SAM открыт.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Карта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914400"/>
            <a:ext cx="164592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Школа</a:t>
            </a:r>
          </a:p>
        </p:txBody>
      </p:sp>
      <p:sp>
        <p:nvSpPr>
          <p:cNvPr id="6" name="Rectangle 5"/>
          <p:cNvSpPr/>
          <p:nvPr/>
        </p:nvSpPr>
        <p:spPr>
          <a:xfrm>
            <a:off x="1920240" y="914400"/>
            <a:ext cx="100584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65960" y="1005840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Масштаб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914400"/>
            <a:ext cx="155448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00584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Bildungsgutschein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914400"/>
            <a:ext cx="118872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005840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Русский язык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914400"/>
            <a:ext cx="86868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005840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Рейтинг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914400"/>
            <a:ext cx="4114800" cy="566928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005840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Главная слабость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481328"/>
            <a:ext cx="16459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572768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DCI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20240" y="1481328"/>
            <a:ext cx="100584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1572768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Крупный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481328"/>
            <a:ext cx="15544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157276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1481328"/>
            <a:ext cx="11887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1572768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1481328"/>
            <a:ext cx="8686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15000" y="1572768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3.6★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1481328"/>
            <a:ext cx="411480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572768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Отменяли курсы, слабый career-support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2048256"/>
            <a:ext cx="1645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2139696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WBS Training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2048256"/>
            <a:ext cx="1005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965960" y="2139696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Крупный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2048256"/>
            <a:ext cx="1554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139696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2048256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6280" y="2139696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0" y="2048256"/>
            <a:ext cx="868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15000" y="2139696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4.1★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2048256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2139696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Самообучение без живой поддержки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2615184"/>
            <a:ext cx="16459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2706624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neue fische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20240" y="2615184"/>
            <a:ext cx="100584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965960" y="2706624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Средний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80" y="2615184"/>
            <a:ext cx="15544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71800" y="2706624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80560" y="2615184"/>
            <a:ext cx="11887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26280" y="2706624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0" y="2615184"/>
            <a:ext cx="8686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715000" y="2706624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3.8★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537960" y="2615184"/>
            <a:ext cx="411480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83680" y="2706624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Быстрый темп, нереальные обещания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3182112"/>
            <a:ext cx="16459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20040" y="3273552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GermanyCation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920240" y="3182112"/>
            <a:ext cx="100584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965960" y="3273552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Малый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80" y="3182112"/>
            <a:ext cx="15544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71800" y="3273552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480560" y="3182112"/>
            <a:ext cx="11887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26280" y="3273552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0" y="3182112"/>
            <a:ext cx="868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715000" y="3273552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4.0★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537960" y="3182112"/>
            <a:ext cx="4114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0" y="3273552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Узкий фокус, слабый бренд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74320" y="3749040"/>
            <a:ext cx="16459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20040" y="3840480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CareerFoundry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920240" y="3749040"/>
            <a:ext cx="100584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965960" y="3840480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Средний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926080" y="3749040"/>
            <a:ext cx="15544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971800" y="3840480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480560" y="3749040"/>
            <a:ext cx="118872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526280" y="3840480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669280" y="3749040"/>
            <a:ext cx="86868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715000" y="3840480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4.3★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37960" y="3749040"/>
            <a:ext cx="4114800" cy="566928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583680" y="3840480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0" i="0">
                <a:solidFill>
                  <a:srgbClr val="1A1A2E"/>
                </a:solidFill>
                <a:latin typeface="Arial"/>
              </a:rPr>
              <a:t>Нет Bildungsgutschein, высокая цена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315968"/>
            <a:ext cx="164592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20040" y="4407408"/>
            <a:ext cx="15544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2CC84B"/>
                </a:solidFill>
                <a:latin typeface="Arial"/>
              </a:rPr>
              <a:t>IT Career Hub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920240" y="4315968"/>
            <a:ext cx="100584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65960" y="4407408"/>
            <a:ext cx="91440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Малый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926080" y="4315968"/>
            <a:ext cx="155448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971800" y="4407408"/>
            <a:ext cx="14630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480560" y="4315968"/>
            <a:ext cx="118872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26280" y="4407408"/>
            <a:ext cx="109728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4315968"/>
            <a:ext cx="86868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715000" y="4407408"/>
            <a:ext cx="77724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4.8★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537960" y="4315968"/>
            <a:ext cx="4114800" cy="566928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583680" y="4407408"/>
            <a:ext cx="4023360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 i="0">
                <a:solidFill>
                  <a:srgbClr val="1A1A2E"/>
                </a:solidFill>
                <a:latin typeface="Arial"/>
              </a:rPr>
              <a:t>Молодой бренд (2022)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74320" y="5897880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 i="0">
                <a:solidFill>
                  <a:srgbClr val="1A1A2E"/>
                </a:solidFill>
                <a:latin typeface="Arial"/>
              </a:rPr>
              <a:t>Конкуренты уязвимы в career support и русскоязычном сопровождении. IT Career Hub — единственный на русском языке + AZAV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SERM: что говорят клиенты конкурентов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5577840" cy="3840480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15602B"/>
                </a:solidFill>
                <a:latin typeface="Arial"/>
              </a:rPr>
              <a:t>✓  Что хвалят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Разнообразие курсов и специализаций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Государственное финансирование доступно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5176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Гибкий онлайн-формат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Наличие немецкоязычных материалов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914400"/>
            <a:ext cx="5577840" cy="384048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005840"/>
            <a:ext cx="5212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 i="0">
                <a:solidFill>
                  <a:srgbClr val="E53535"/>
                </a:solidFill>
                <a:latin typeface="Arial"/>
              </a:rPr>
              <a:t>✗  На что жалуются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DCI: «отменяли курсы в последний момент»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0312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DCI: «слабая поддержка при трудоустройстве»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65176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neue fische: «нереалистичные обещания по трудоустройству»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0040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neue fische: «слишком быстрый темп — не успевали»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749040"/>
            <a:ext cx="5212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• WBS: «самостоятельное обучение без живой поддержки»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937760"/>
            <a:ext cx="11430000" cy="68580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983480"/>
            <a:ext cx="110642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IT Career Hub закрывает главные боли конкурентов — живые уроки + карьерная поддержка на русском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JTBD: зачем аудитория приходит на курсы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148840" cy="4114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45720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965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«Хочу сменить профессию,
не потеряв время и деньги»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206240"/>
            <a:ext cx="1965960" cy="5029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CC84B"/>
                </a:solidFill>
                <a:latin typeface="Arial"/>
              </a:rPr>
              <a:t>Снять риск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1005840"/>
            <a:ext cx="2148840" cy="4114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143000"/>
            <a:ext cx="45720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1430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1691640"/>
            <a:ext cx="1965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«Хочу понять, подхожу ли
я под ваучер»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4206240"/>
            <a:ext cx="1965960" cy="5029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88920" y="420624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CC84B"/>
                </a:solidFill>
                <a:latin typeface="Arial"/>
              </a:rPr>
              <a:t>Снять неопределённость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0" y="1005840"/>
            <a:ext cx="2148840" cy="4114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20640" y="1143000"/>
            <a:ext cx="45720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0" y="11430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1691640"/>
            <a:ext cx="1965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«Хочу учиться на родном
языке»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120640" y="4206240"/>
            <a:ext cx="1965960" cy="5029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420624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CC84B"/>
                </a:solidFill>
                <a:latin typeface="Arial"/>
              </a:rPr>
              <a:t>Снять языковой барьер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005840"/>
            <a:ext cx="2148840" cy="4114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60" y="1143000"/>
            <a:ext cx="45720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11430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52360" y="1691640"/>
            <a:ext cx="1965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«Хочу знать, что найду
работу после курса»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52360" y="4206240"/>
            <a:ext cx="1965960" cy="5029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52360" y="420624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CC84B"/>
                </a:solidFill>
                <a:latin typeface="Arial"/>
              </a:rPr>
              <a:t>Снять страх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92640" y="1005840"/>
            <a:ext cx="2148840" cy="41148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84080" y="1143000"/>
            <a:ext cx="45720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143000"/>
            <a:ext cx="457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1691640"/>
            <a:ext cx="1965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«Хочу, чтобы меня
сопровождали до конца»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784080" y="4206240"/>
            <a:ext cx="1965960" cy="50292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84080" y="4206240"/>
            <a:ext cx="19659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 i="0">
                <a:solidFill>
                  <a:srgbClr val="2CC84B"/>
                </a:solidFill>
                <a:latin typeface="Arial"/>
              </a:rPr>
              <a:t>Снять одиночество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Аудит воронки: текущее состояние (AS IS)</a:t>
            </a:r>
          </a:p>
        </p:txBody>
      </p:sp>
      <p:sp>
        <p:nvSpPr>
          <p:cNvPr id="4" name="Rectangle 3"/>
          <p:cNvSpPr/>
          <p:nvPr/>
        </p:nvSpPr>
        <p:spPr>
          <a:xfrm>
            <a:off x="2423160" y="3291840"/>
            <a:ext cx="164592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1920240"/>
            <a:ext cx="21031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Трафик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51460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  <a:latin typeface="Arial"/>
              </a:rPr>
              <a:t>Вход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3200400"/>
            <a:ext cx="19202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Органика + реклама</a:t>
            </a:r>
          </a:p>
        </p:txBody>
      </p:sp>
      <p:sp>
        <p:nvSpPr>
          <p:cNvPr id="9" name="Rectangle 8"/>
          <p:cNvSpPr/>
          <p:nvPr/>
        </p:nvSpPr>
        <p:spPr>
          <a:xfrm>
            <a:off x="4690872" y="3291840"/>
            <a:ext cx="164592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87752" y="1920240"/>
            <a:ext cx="2103120" cy="3383280"/>
          </a:xfrm>
          <a:prstGeom prst="rect">
            <a:avLst/>
          </a:prstGeom>
          <a:solidFill>
            <a:srgbClr val="FFF0D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9192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Hero CTR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9192" y="251460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E53535"/>
                </a:solidFill>
                <a:latin typeface="Arial"/>
              </a:rPr>
              <a:t>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79192" y="3200400"/>
            <a:ext cx="19202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⚠ бенчмарк 10%
RU слабее DE
Bildungsgutschein
спрятан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58584" y="3291840"/>
            <a:ext cx="164592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855464" y="1920240"/>
            <a:ext cx="2103120" cy="3383280"/>
          </a:xfrm>
          <a:prstGeom prst="rect">
            <a:avLst/>
          </a:prstGeom>
          <a:solidFill>
            <a:srgbClr val="FFF0D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46904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Форма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46904" y="251460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E53535"/>
                </a:solidFill>
                <a:latin typeface="Arial"/>
              </a:rPr>
              <a:t>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46904" y="3200400"/>
            <a:ext cx="19202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⚠ бенчмарк 65%
Требование
«латиницей»
Нет urgency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26296" y="3291840"/>
            <a:ext cx="164592" cy="254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23176" y="1920240"/>
            <a:ext cx="2103120" cy="3383280"/>
          </a:xfrm>
          <a:prstGeom prst="rect">
            <a:avLst/>
          </a:prstGeom>
          <a:solidFill>
            <a:srgbClr val="D4F5D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14616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Show-up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14616" y="251460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5602B"/>
                </a:solidFill>
                <a:latin typeface="Arial"/>
              </a:rPr>
              <a:t>70%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14616" y="3200400"/>
            <a:ext cx="19202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20-минутный
перезвон
работает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90888" y="1920240"/>
            <a:ext cx="2103120" cy="3383280"/>
          </a:xfrm>
          <a:prstGeom prst="rect">
            <a:avLst/>
          </a:prstGeom>
          <a:solidFill>
            <a:srgbClr val="F5F6FA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82328" y="2057400"/>
            <a:ext cx="1920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1A1A2E"/>
                </a:solidFill>
                <a:latin typeface="Arial"/>
              </a:rPr>
              <a:t>Sale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82328" y="2514600"/>
            <a:ext cx="1920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 i="0">
                <a:solidFill>
                  <a:srgbClr val="1A1A2E"/>
                </a:solidFill>
                <a:latin typeface="Arial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200400"/>
            <a:ext cx="192024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Итого: ~5,25
продаж на
1000 визитов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577840"/>
            <a:ext cx="11430000" cy="548640"/>
          </a:xfrm>
          <a:prstGeom prst="rect">
            <a:avLst/>
          </a:prstGeom>
          <a:solidFill>
            <a:srgbClr val="FFF0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59612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i="0">
                <a:solidFill>
                  <a:srgbClr val="E53535"/>
                </a:solidFill>
                <a:latin typeface="Arial"/>
              </a:rPr>
              <a:t>RU-версия значительно слабее DE · Bildungsgutschein не виден в первом экране · CTA без urgency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Топ-3 быстрых победы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3566160" cy="4023360"/>
          </a:xfrm>
          <a:prstGeom prst="rect">
            <a:avLst/>
          </a:prstGeom>
          <a:solidFill>
            <a:srgbClr val="F5F6FA"/>
          </a:solidFill>
          <a:ln w="2540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3566160" cy="475488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6984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01  Изменить CTA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291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«ОСТАВИТЬ ЗАЯВКУ»
→ «Узнать, оплатит ли государство моё обучение»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474720"/>
            <a:ext cx="3291840" cy="4114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47472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CC84B"/>
                </a:solidFill>
                <a:latin typeface="Arial"/>
              </a:rPr>
              <a:t>+25% CTR на hero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Сложность: Low  ·  Срок: 1 день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78808" y="1005840"/>
            <a:ext cx="3566160" cy="4023360"/>
          </a:xfrm>
          <a:prstGeom prst="rect">
            <a:avLst/>
          </a:prstGeom>
          <a:solidFill>
            <a:srgbClr val="F5F6FA"/>
          </a:solidFill>
          <a:ln w="2540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78808" y="1005840"/>
            <a:ext cx="3566160" cy="475488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106984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02  Bildungsgutschein в первый экран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1600200"/>
            <a:ext cx="3291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Добавить в hero RU-версии:
«Государство оплачивает до 100% обучения»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5968" y="3474720"/>
            <a:ext cx="3291840" cy="4114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347472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CC84B"/>
                </a:solidFill>
                <a:latin typeface="Arial"/>
              </a:rPr>
              <a:t>−15% показатель отказов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4023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Сложность: Low  ·  Срок: 1 день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91856" y="1005840"/>
            <a:ext cx="3566160" cy="4023360"/>
          </a:xfrm>
          <a:prstGeom prst="rect">
            <a:avLst/>
          </a:prstGeom>
          <a:solidFill>
            <a:srgbClr val="F5F6FA"/>
          </a:solidFill>
          <a:ln w="2540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991856" y="1005840"/>
            <a:ext cx="3566160" cy="475488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29016" y="1069848"/>
            <a:ext cx="3291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03  Urgency в кнопку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9016" y="1600200"/>
            <a:ext cx="32918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  <a:latin typeface="Arial"/>
              </a:rPr>
              <a:t>«Перезвоним за 20 минут»
по образцу DE-версии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29016" y="3474720"/>
            <a:ext cx="3291840" cy="4114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9016" y="3474720"/>
            <a:ext cx="32918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 i="0">
                <a:solidFill>
                  <a:srgbClr val="2CC84B"/>
                </a:solidFill>
                <a:latin typeface="Arial"/>
              </a:rPr>
              <a:t>+14% form 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402336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Arial"/>
              </a:rPr>
              <a:t>Сложность: Low  ·  Срок: 1 день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257800"/>
            <a:ext cx="11430000" cy="6400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321808"/>
            <a:ext cx="110642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2CC84B"/>
                </a:solidFill>
                <a:latin typeface="Arial"/>
              </a:rPr>
              <a:t>3 правки за 1 день = +25–40% к конверсии hero-секции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Незакрытые ниши: куда расти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5394960" cy="2286000"/>
          </a:xfrm>
          <a:prstGeom prst="rect">
            <a:avLst/>
          </a:prstGeom>
          <a:solidFill>
            <a:srgbClr val="F5F6FA"/>
          </a:solidFill>
          <a:ln w="1905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🇺🇦  Ukrainian
language track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029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1 млн+ украинцев в Германии.
Никто из конкурентов не
работает явно с этим сегментом.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89320" y="1005840"/>
            <a:ext cx="5394960" cy="2286000"/>
          </a:xfrm>
          <a:prstGeom prst="rect">
            <a:avLst/>
          </a:prstGeom>
          <a:solidFill>
            <a:srgbClr val="F5F6FA"/>
          </a:solidFill>
          <a:ln w="1905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1430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👩‍👧  Трек для
женщин с детьми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5029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Гибкий график, часть-тайм формат.
Нет ни у кого на рынке.
Частично финансируется государством.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520440"/>
            <a:ext cx="5394960" cy="2286000"/>
          </a:xfrm>
          <a:prstGeom prst="rect">
            <a:avLst/>
          </a:prstGeom>
          <a:solidFill>
            <a:srgbClr val="F5F6FA"/>
          </a:solidFill>
          <a:ln w="1905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🤝  Постобразовательный
сервис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029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Нетворкинг, тех.интервью,
рекомендательные письма на нем.
Удержание и сарафанное радио.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3520440"/>
            <a:ext cx="5394960" cy="2286000"/>
          </a:xfrm>
          <a:prstGeom prst="rect">
            <a:avLst/>
          </a:prstGeom>
          <a:solidFill>
            <a:srgbClr val="F5F6FA"/>
          </a:solidFill>
          <a:ln w="19050">
            <a:solidFill>
              <a:srgbClr val="2CC8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657600"/>
            <a:ext cx="5029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📣  SERM и
community-building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4343400"/>
            <a:ext cx="50292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Arial"/>
              </a:rPr>
              <a:t>Первый игрок в рус.
интернете получит органику.
Telegram-комьюнити выпускников.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2CC84B"/>
                </a:solidFill>
                <a:latin typeface="Arial"/>
              </a:rPr>
              <a:t>→ Это расширение SAM без смены бизнес-модели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SWOT-анализ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5577840" cy="242316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2CC84B"/>
                </a:solidFill>
                <a:latin typeface="Arial"/>
              </a:rPr>
              <a:t>S  Strengths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· Единственный AZAV + русский язык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64792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· Живые уроки с преподавателем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12264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· Курс нем. языка для работы в программе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59736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· Выпускники в Zalando / Amazon / Microsoft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07208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Arial"/>
              </a:rPr>
              <a:t>· Верифицированные LinkedIn-отзывы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914400"/>
            <a:ext cx="5577840" cy="242316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0058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W  Weaknesses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417320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Молодой бренд (основан 2022)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1764792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Один основной канал — Bildungsgutschein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112264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Слабое SERM-присутствие онлайн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459736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Нет ценообразования для самоплательщиков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807208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Нет пути для «неподходящих» пользователей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429000"/>
            <a:ext cx="5577840" cy="2423160"/>
          </a:xfrm>
          <a:prstGeom prst="rect">
            <a:avLst/>
          </a:prstGeom>
          <a:solidFill>
            <a:srgbClr val="D4F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O  Opportunities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931920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Рост украинской аудитории (1 млн+)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79392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Job-Turbo программа (расширение BA)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26864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Незакрытые ниши конкурентов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74336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First-mover в рус. community-building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321808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Трек для женщин с детьми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429000"/>
            <a:ext cx="5577840" cy="2423160"/>
          </a:xfrm>
          <a:prstGeom prst="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52044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T  Threats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931920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DCI/WBS могут войти в рус. сегмент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4279392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Изменение политики Agentur für Arbeit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626864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Репутационные атаки конкурентов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4974336"/>
            <a:ext cx="5303520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Arial"/>
              </a:rPr>
              <a:t>· Снижение финансирования Bildungsgutschein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81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  <a:latin typeface="Arial"/>
              </a:rPr>
              <a:t>Рекомендуемое позиционирование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10698480" cy="2468880"/>
          </a:xfrm>
          <a:prstGeom prst="rect">
            <a:avLst/>
          </a:prstGeom>
          <a:solidFill>
            <a:srgbClr val="1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73152" cy="24688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097280"/>
            <a:ext cx="10149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Arial"/>
              </a:rPr>
              <a:t>IT Career Hub — единственная AZAV-сертифицированная IT-школа Германии,
созданная специально для русскоязычных мигрантов.
От встречи с консультантом в Agentur für Arbeit до оффера от немецкого работодателя —
полностью на вашем языке, полностью за счёт государства.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  <a:latin typeface="Arial"/>
              </a:rPr>
              <a:t>Тактические приоритеты: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160520"/>
            <a:ext cx="41148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4160520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SERM-программа в русскоязычных медиа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1605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Органический охват и доверие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818888"/>
            <a:ext cx="41148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1888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818888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Ukrainian language track как PR-нарратив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481888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Выход на рынок 1 млн+ человек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477256"/>
            <a:ext cx="411480" cy="41148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477256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77256"/>
            <a:ext cx="5943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1A1A2E"/>
                </a:solidFill>
                <a:latin typeface="Arial"/>
              </a:rPr>
              <a:t>Community flywheel: закрытый Telegram выпускников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5477256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Arial"/>
              </a:rPr>
              <a:t>Удержание + сарафанное радио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6B7280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800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18872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0" i="0">
                <a:solidFill>
                  <a:srgbClr val="AABBCC"/>
                </a:solidFill>
                <a:latin typeface="Arial"/>
              </a:rPr>
              <a:t>Следующий шаг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Arial"/>
              </a:rPr>
              <a:t>Готова обсудить →
как превратить эти данные
в рост конверсии и выручки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023360"/>
            <a:ext cx="3931920" cy="658368"/>
          </a:xfrm>
          <a:prstGeom prst="rect">
            <a:avLst/>
          </a:prstGeom>
          <a:solidFill>
            <a:srgbClr val="2CC8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023360"/>
            <a:ext cx="393192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rial"/>
              </a:rPr>
              <a:t>Назначить встречу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4937760"/>
            <a:ext cx="7589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 i="0">
                <a:solidFill>
                  <a:srgbClr val="AABBCC"/>
                </a:solidFill>
                <a:latin typeface="Arial"/>
              </a:rPr>
              <a:t>Надя Романенко  ·  nadya.romanenko.pmm@gmail.com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 i="0">
                <a:solidFill>
                  <a:srgbClr val="AAAAAA"/>
                </a:solidFill>
                <a:latin typeface="Arial"/>
              </a:rPr>
              <a:t>Конфиденциально · Надя Романенко · Май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86032" y="653796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0" i="0">
                <a:solidFill>
                  <a:srgbClr val="AAAAAA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
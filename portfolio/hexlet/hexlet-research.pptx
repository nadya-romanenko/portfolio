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0"/>
            <a:ext cx="4389120" cy="4389120"/>
          </a:xfrm>
          <a:prstGeom prst="ellipse">
            <a:avLst/>
          </a:prstGeom>
          <a:solidFill>
            <a:srgbClr val="FF6B35">
              <a:alpha val="18000"/>
            </a:srgbClr>
          </a:solidFill>
          <a:ln w="254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657600"/>
            <a:ext cx="2286000" cy="2286000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09728" cy="2560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IT-образование в России: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 рынка и позиции Хекслет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 ·  Конкуренты  ·  SERM  ·  SWOT  ·  Инсайты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5897880"/>
            <a:ext cx="11274552" cy="1829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5989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45752" y="5989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hexlet.io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 рынка: TAM / SAM / SOM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076" y="105156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" y="1051560"/>
            <a:ext cx="3474720" cy="73152"/>
          </a:xfrm>
          <a:prstGeom prst="roundRect">
            <a:avLst>
              <a:gd name="adj" fmla="val 75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" y="125272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0956" y="17099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34–35 млрд руб.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0956" y="23500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онлайн IT-EdTech СНГ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0956" y="2926080"/>
            <a:ext cx="3108960" cy="27432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" y="3044952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~30 млрд + Казахстан ~2 млрд + прочий СНГ ~2–3 млрд. Рост +20% г/г.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7116" y="105156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7116" y="1051560"/>
            <a:ext cx="3474720" cy="73152"/>
          </a:xfrm>
          <a:prstGeom prst="roundRect">
            <a:avLst>
              <a:gd name="adj" fmla="val 7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5716" y="125272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39996" y="17099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22–24 млрд руб.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39996" y="23500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профпереподготовка взрослых в 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39996" y="2926080"/>
            <a:ext cx="3108960" cy="27432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996" y="3044952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Исключая B2B-корпоративный сегмент (~20%) и детское образование (~34%).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6156" y="105156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6156" y="1051560"/>
            <a:ext cx="3474720" cy="73152"/>
          </a:xfrm>
          <a:prstGeom prst="roundRect">
            <a:avLst>
              <a:gd name="adj" fmla="val 7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4756" y="125272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89036" y="17099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1,0–1,5 млрд сейчас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89036" y="235000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Потенциал: 3–5 млрд руб.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89036" y="2926080"/>
            <a:ext cx="3108960" cy="27432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9036" y="3044952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17 000 студентов/мес × ~3 000 руб. Рост: B2B + IT-колледж + СНГ.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17220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Рынок вырос в 10 раз за 5 лет. CAGR IT-сегмента — ~12,8% в год.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Конкурентный ландшафт: 9 игроков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155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Яндекс Практикум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Интенсивный bootcamp, бренд Яндекса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19933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147–225 тыс. руб.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33088" y="1005840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1155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Skillbox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4630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программ, масс-маркет IT+digital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0" y="19933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120–250 тыс. руб.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00416" y="1005840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1155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Нетология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65008" y="14630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Digital-университет, дипломы ДПО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65008" y="19933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90–240 тыс. руб.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980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GeekBrains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14553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IT-университет, 100+ курсов по коду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0352" y="36758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120–220 тыс. руб.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33088" y="2688336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7980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SkillFactory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314553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ML, глубокий контент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97680" y="36758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90–180 тыс. руб.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00416" y="2688336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27980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Skypro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65008" y="3145536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гарантия трудоустройства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65008" y="36758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~163 тыс. руб.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4805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OTUS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" y="482803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для middle/senior разработчиков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0352" y="53583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80–160 тыс. руб.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33088" y="4370832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44805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Bang Bang Ed.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297680" y="482803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creativetech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297680" y="53583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80–200 тыс. руб.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00416" y="4370832"/>
            <a:ext cx="3566160" cy="1481328"/>
          </a:xfrm>
          <a:prstGeom prst="roundRect">
            <a:avLst>
              <a:gd name="adj" fmla="val 7407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5008" y="448056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 Хекслет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65008" y="482803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Инженерный подход, подписка, колледж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065008" y="535838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2 400–3 900 руб/мес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Топ-3 конкурента: детальный разбор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560064" cy="5349240"/>
          </a:xfrm>
          <a:prstGeom prst="roundRect">
            <a:avLst>
              <a:gd name="adj" fmla="val 3082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560064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9848"/>
            <a:ext cx="3285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Яндекс Практикум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УТП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 Яндекса + трудоустройство внутри экосистемы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9464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25496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147–225 тыс. руб.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11296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67328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20–35 лет, новички, смена профессии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453128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Сила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709160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Высокий NPS (64), узнаваемость, реальные проекты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5394960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Слабость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650992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Медленная проверка (до недели), баги тренажёров, жёсткие группы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18432" y="1005840"/>
            <a:ext cx="3560064" cy="5349240"/>
          </a:xfrm>
          <a:prstGeom prst="roundRect">
            <a:avLst>
              <a:gd name="adj" fmla="val 3082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18432" y="1005840"/>
            <a:ext cx="3560064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55592" y="1069848"/>
            <a:ext cx="3285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Skillbox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55592" y="1627632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УТП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55592" y="1883664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программ — IT, дизайн, маркетинг, полный охват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55592" y="2569464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55592" y="2825496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120–250 тыс. руб.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55592" y="3511296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55592" y="3767328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18–45 лет, широкая, не только 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55592" y="4453128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Сила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55592" y="4709160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Узнаваемость 73%, NPS=64, партнёрства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55592" y="5394960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Слабость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55592" y="5650992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Кредиты под видом рассрочки, ЦК — профанация, устаревший контент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79664" y="1005840"/>
            <a:ext cx="3560064" cy="5349240"/>
          </a:xfrm>
          <a:prstGeom prst="roundRect">
            <a:avLst>
              <a:gd name="adj" fmla="val 3082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79664" y="1005840"/>
            <a:ext cx="3560064" cy="502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6824" y="1069848"/>
            <a:ext cx="3285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SkillFactory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16824" y="1627632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УТП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16824" y="1883664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глубокие программы Data Science и ML на рынке РФ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16824" y="2569464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Цена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16824" y="2825496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90–180 тыс. руб.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16824" y="3511296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16824" y="3767328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 лет, аналитики, офисные сотрудники → IT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16824" y="4453128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Сила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16824" y="4709160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NPS=61, код-ревью, реальные датасеты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16824" y="5394960"/>
            <a:ext cx="3285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Слабость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16824" y="5650992"/>
            <a:ext cx="3285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Слабый бренд вне Data-ниши, ограниченный охват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SERM: репутация Хекслет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08676" cy="3977640"/>
          </a:xfrm>
          <a:prstGeom prst="roundRect">
            <a:avLst>
              <a:gd name="adj" fmla="val 2759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08676" cy="4754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9848"/>
            <a:ext cx="5134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Что хвалят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5134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Инженерный подход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51343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«Учат думать, а не копировать код» — формируют фундаментальные навыки, а не навык конкретного фреймворка.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724912"/>
            <a:ext cx="5134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Практика в реальной среде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51343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Редактор, БД, серверы прямо в браузере с первого дня. Не игрушечный тренажёр — настоящий стек.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822192"/>
            <a:ext cx="5134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Гибкость и нет дедлайнов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4096512"/>
            <a:ext cx="51343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Учись в своём темпе. Можно совмещать с работой. Подписку можно ставить на паузу.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48756" y="1005840"/>
            <a:ext cx="5408676" cy="3977640"/>
          </a:xfrm>
          <a:prstGeom prst="roundRect">
            <a:avLst>
              <a:gd name="adj" fmla="val 2759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8756" y="1005840"/>
            <a:ext cx="5408676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5916" y="1069848"/>
            <a:ext cx="5134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На что жалуются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85916" y="1627632"/>
            <a:ext cx="5134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Замена менторов на тьюторов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5916" y="1901952"/>
            <a:ext cx="51343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«Убрали опытных наставников, добавили студентов старших модулей за бесплатно. Поддержка деградировала».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85916" y="2724912"/>
            <a:ext cx="5134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Сложно для абсолютных новичков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5916" y="2999232"/>
            <a:ext cx="51343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«Подача сухая, подходит людям с базой». Темп высокий, много самостоятельного погружения.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5916" y="3822192"/>
            <a:ext cx="5134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Мало видео, слабое сообщество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5916" y="4096512"/>
            <a:ext cx="513435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«Всё текстом — устаёшь». Telegram-чаты фактически замерли, обмен опытом минимален.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11274552" cy="713232"/>
          </a:xfrm>
          <a:prstGeom prst="roundRect">
            <a:avLst>
              <a:gd name="adj" fmla="val 15385"/>
            </a:avLst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120640"/>
            <a:ext cx="73152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230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Незакрытая боль: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5230368"/>
            <a:ext cx="8531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карьерного трека после обучения — студенты не знают, что делать с портфолио и как попасть на реальное интервью.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SERM: репутация конкурентов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08676" cy="2423160"/>
          </a:xfrm>
          <a:prstGeom prst="roundRect">
            <a:avLst>
              <a:gd name="adj" fmla="val 4528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08676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2452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Яндекс Практикум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94232" y="1078992"/>
            <a:ext cx="21344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~4.1 /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Структурированная программа, чёткие этапы, реальные проекты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Медленная проверка (до 10 дней), баги тренажёров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42032"/>
            <a:ext cx="5134356" cy="18288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06040"/>
            <a:ext cx="51343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Нет реального трудоустройства вне экосистемы Яндекса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48756" y="1005840"/>
            <a:ext cx="5408676" cy="2423160"/>
          </a:xfrm>
          <a:prstGeom prst="roundRect">
            <a:avLst>
              <a:gd name="adj" fmla="val 4528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48756" y="1005840"/>
            <a:ext cx="5408676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5916" y="1051560"/>
            <a:ext cx="32452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Skillbox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85788" y="1078992"/>
            <a:ext cx="21344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  ~3.6 / 5 (полярные)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5916" y="1481328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Широкий каталог, сильные преподаватели-практики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85916" y="2011680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Кредит под видом рассрочки, ЦК-профанация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5916" y="2542032"/>
            <a:ext cx="5134356" cy="18288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5916" y="2606040"/>
            <a:ext cx="51343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Никто не учит реально искать работу: мок-интервью, CV, переговоры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408676" cy="2423160"/>
          </a:xfrm>
          <a:prstGeom prst="roundRect">
            <a:avLst>
              <a:gd name="adj" fmla="val 4528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11880"/>
            <a:ext cx="5408676" cy="4114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57600"/>
            <a:ext cx="32452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Нетология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94232" y="3685032"/>
            <a:ext cx="21344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~4.0 /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087368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Госдипломы ДПО, разнообразие digital-профессий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617720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«Вода» в теории, слабый клиентский сервис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5148072"/>
            <a:ext cx="5134356" cy="18288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212080"/>
            <a:ext cx="51343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Нет поддержки между модулями — студенты «зависают» и бросают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48756" y="3611880"/>
            <a:ext cx="5408676" cy="2423160"/>
          </a:xfrm>
          <a:prstGeom prst="roundRect">
            <a:avLst>
              <a:gd name="adj" fmla="val 4528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48756" y="3611880"/>
            <a:ext cx="5408676" cy="411480"/>
          </a:xfrm>
          <a:prstGeom prst="rect">
            <a:avLst/>
          </a:prstGeom>
          <a:solidFill>
            <a:srgbClr val="B0B0C3"/>
          </a:solidFill>
          <a:ln w="12700">
            <a:solidFill>
              <a:srgbClr val="B0B0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5916" y="3657600"/>
            <a:ext cx="32452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SkillFactory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85788" y="3685032"/>
            <a:ext cx="21344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NPS = 61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85916" y="4087368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Глубокий Data-контент, код-ревью, реальные датасеты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85916" y="4617720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Слабый бренд вне Data, малая аудитория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85916" y="5148072"/>
            <a:ext cx="5134356" cy="18288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85916" y="5212080"/>
            <a:ext cx="51343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Нет понятного пути для не-Data специальностей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SWOT-анализ: Хекслет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08676" cy="2514600"/>
          </a:xfrm>
          <a:prstGeom prst="roundRect">
            <a:avLst>
              <a:gd name="adj" fmla="val 4364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08676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9848"/>
            <a:ext cx="51343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💪  Strengths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155448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Уникальный инженерный подход — нет аналогов на рынке РФ/СНГ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12140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Практика в реальной среде с первого урока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268833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Подписка 3 900 руб./мес. — минимальный барьер входа vs. 150+ тыс. конкурентов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48756" y="1005840"/>
            <a:ext cx="5408676" cy="2514600"/>
          </a:xfrm>
          <a:prstGeom prst="roundRect">
            <a:avLst>
              <a:gd name="adj" fmla="val 4364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48756" y="1005840"/>
            <a:ext cx="5408676" cy="457200"/>
          </a:xfrm>
          <a:prstGeom prst="rect">
            <a:avLst/>
          </a:prstGeom>
          <a:solidFill>
            <a:srgbClr val="B0B0C3"/>
          </a:solidFill>
          <a:ln w="12700">
            <a:solidFill>
              <a:srgbClr val="B0B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916" y="1069848"/>
            <a:ext cx="51343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😟  Weaknesses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3348" y="155448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Замена менторов-практиков на тьюторов-студентов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3348" y="212140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Низкая узнаваемость (vs. Skillbox 73%, Яндекс 65%)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3348" y="268833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Нет карьерного трека: от сертификата до оффера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5408676" cy="2514600"/>
          </a:xfrm>
          <a:prstGeom prst="roundRect">
            <a:avLst>
              <a:gd name="adj" fmla="val 4364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85032"/>
            <a:ext cx="5408676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49040"/>
            <a:ext cx="51343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Opportunities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" y="423367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B2B: корпоративный онбординг джунов — ниша пуста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" y="480060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IT-колледж hexly.ru: сегмент 15–18 лет без конкурентов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536752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СНГ-экспансия: Казахстан +20% г/г, локальных лидеров нет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48756" y="3685032"/>
            <a:ext cx="5408676" cy="2514600"/>
          </a:xfrm>
          <a:prstGeom prst="roundRect">
            <a:avLst>
              <a:gd name="adj" fmla="val 4364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8756" y="3685032"/>
            <a:ext cx="5408676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5916" y="3749040"/>
            <a:ext cx="51343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Threats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3348" y="423367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VK-холдинг: Skillbox + GeekBrains + Нетология + огромные бюджеты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13348" y="480060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Яндекс Практикум с экосистемой трудоустройства внутри Яндекса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3348" y="536752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Насыщение рынка: «первая волна» уже обучилась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Топ-3 незакрытые боли рынка IT-образования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1274552" cy="1810512"/>
          </a:xfrm>
          <a:prstGeom prst="roundRect">
            <a:avLst>
              <a:gd name="adj" fmla="val 6061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52728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1920240" y="1280160"/>
            <a:ext cx="36576" cy="13533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12344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«Выучился — и что дальше?»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84832" y="1655064"/>
            <a:ext cx="9354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реального пути от сертификата до оффера. Мок-интервью, переговоры о зарплате, работа с CV под вакансию — этого не даёт никто. «Центр карьеры» — маркетинговый ярлык, а не функция.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44952"/>
            <a:ext cx="11274552" cy="1810512"/>
          </a:xfrm>
          <a:prstGeom prst="roundRect">
            <a:avLst>
              <a:gd name="adj" fmla="val 6061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46120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800" dirty="0"/>
          </a:p>
        </p:txBody>
      </p:sp>
      <p:sp>
        <p:nvSpPr>
          <p:cNvPr id="11" name="Shape 9"/>
          <p:cNvSpPr/>
          <p:nvPr/>
        </p:nvSpPr>
        <p:spPr>
          <a:xfrm>
            <a:off x="1920240" y="3273552"/>
            <a:ext cx="36576" cy="13533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3227832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«Поддержка кончается после оплаты»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84832" y="3648456"/>
            <a:ext cx="9354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продажи — идеальный сервис. После — менторы недоступны, кураторы шаблонят, ревью затягивается. Обучение превращается в одиночный путь без живой обратной связи.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038344"/>
            <a:ext cx="11274552" cy="1810512"/>
          </a:xfrm>
          <a:prstGeom prst="roundRect">
            <a:avLst>
              <a:gd name="adj" fmla="val 6061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239512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800" dirty="0"/>
          </a:p>
        </p:txBody>
      </p:sp>
      <p:sp>
        <p:nvSpPr>
          <p:cNvPr id="16" name="Shape 14"/>
          <p:cNvSpPr/>
          <p:nvPr/>
        </p:nvSpPr>
        <p:spPr>
          <a:xfrm>
            <a:off x="1920240" y="5266944"/>
            <a:ext cx="36576" cy="13533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5221224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«Я не знаю, готов ли я к найму»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84832" y="5641848"/>
            <a:ext cx="9354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объективного внешнего бенчмарка. Оценки внутри платформы не коррелируют с рыночными ожиданиями. Студент не понимает, достаточно ли его знаний, пока не получит первый отказ.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Окна роста для Хекслет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24128"/>
            <a:ext cx="3517392" cy="5212080"/>
          </a:xfrm>
          <a:prstGeom prst="roundRect">
            <a:avLst>
              <a:gd name="adj" fmla="val 3120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07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🏢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151632" cy="292608"/>
          </a:xfrm>
          <a:prstGeom prst="roundRect">
            <a:avLst>
              <a:gd name="adj" fmla="val 25000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151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Ниша почти пуста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B2B: корпоративный онбординг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Инженерный подход Хекслет — идеальный онбординг для джунов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93008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Компании платят за каждого сотрудника, не конкурируют с B2C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151376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30+ партнёров уже есть — база для пилота B2B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57472" y="1024128"/>
            <a:ext cx="3517392" cy="5212080"/>
          </a:xfrm>
          <a:prstGeom prst="roundRect">
            <a:avLst>
              <a:gd name="adj" fmla="val 3120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0352" y="1207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340352" y="1828800"/>
            <a:ext cx="3151632" cy="292608"/>
          </a:xfrm>
          <a:prstGeom prst="roundRect">
            <a:avLst>
              <a:gd name="adj" fmla="val 25000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0352" y="1828800"/>
            <a:ext cx="3151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Конкуренции нет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40352" y="2194560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IT-колледж hexly.ru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40352" y="2834640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Сегмент 15–18 лет: Яндекс и Skillbox туда не идут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0352" y="3493008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СПО-диплом + 80% трудоустройство за год — сильное УТП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0352" y="4151376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Государство субсидирует СПО — снижает стоимость привлечения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57744" y="1024128"/>
            <a:ext cx="3517392" cy="5212080"/>
          </a:xfrm>
          <a:prstGeom prst="roundRect">
            <a:avLst>
              <a:gd name="adj" fmla="val 3120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0624" y="1207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8040624" y="1828800"/>
            <a:ext cx="3151632" cy="292608"/>
          </a:xfrm>
          <a:prstGeom prst="roundRect">
            <a:avLst>
              <a:gd name="adj" fmla="val 25000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0624" y="1828800"/>
            <a:ext cx="3151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волна аудитории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0624" y="2194560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«Второй шанс»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0624" y="2834640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Первая волна 2020–2023 уже обучилась у конкурентов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0624" y="3493008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Новая аудитория — разочарованные, ищут «настоящее» обучение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0624" y="4151376"/>
            <a:ext cx="3151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Позиционирование: «курсы, после которых действительно берут»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Недооценённые сегменты аудитории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11274552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42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Сегмент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0424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Описание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0424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недооценён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78440" y="10424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Хекслет?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399032"/>
            <a:ext cx="11274552" cy="89611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7218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Действующие разработчики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149047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Junior/middle, хотят систематизировать знания, нет пробелов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49047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платформы заточены под новичков. OTUS — единственный конкурент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78440" y="165506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Лидер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295144"/>
            <a:ext cx="11274552" cy="896112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6829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15–18 лет (после 9 кл.)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2386584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Хотят войти в IT без классического университета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38658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IT-колледж слабо продвигается, прямых конкурентов почти нет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78440" y="25511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Лидер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11274552" cy="89611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6440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СНГ вне России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46120" y="3282696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 (+20% г/г), Узбекистан (+94% г/г), Беларусь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282696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Локальных сильных игроков нет, российские слабо адаптированы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78440" y="3447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Лидер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087368"/>
            <a:ext cx="11274552" cy="896112"/>
          </a:xfrm>
          <a:prstGeom prst="rect">
            <a:avLst/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05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Переобучение внутри IT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46120" y="417880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→ разработчик, frontend → fullstack, смена стека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417880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делает продукт «для тех, кто уже в IT, но меняет путь»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78440" y="4343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983480"/>
            <a:ext cx="11274552" cy="89611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05663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Женщины 30–45 в декрете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46120" y="5074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мотивация, нужен гибкий асинхронный формат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5074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IT-маркетинг нацелен на молодых мужчин, сегмент игнорируется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78440" y="52395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Выводы и рекомендации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972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1274552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4813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61872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17320" y="1170432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насыщен новичками — выигрывает тот, кто идёт вглубь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10085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волна прошла. Новая аудитория — опытные, разочарованные, B2B. Хекслет уже стоит в нужной нише.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11274552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70048"/>
            <a:ext cx="91440" cy="14813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260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417320" y="2834640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Главная незакрытая боль: путь от сертификата до оффера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328416"/>
            <a:ext cx="10085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первым выстроит полный трек «учёба → портфолио → мок-интервью → оффер» — заберёт сегмент с максимальным LTV.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34256"/>
            <a:ext cx="11274552" cy="1481328"/>
          </a:xfrm>
          <a:prstGeom prst="roundRect">
            <a:avLst>
              <a:gd name="adj" fmla="val 7407"/>
            </a:avLst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334256"/>
            <a:ext cx="91440" cy="14813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590288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417320" y="4498848"/>
            <a:ext cx="10085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Хекслет стоит в уникальной нише — защитить и масштабировать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992624"/>
            <a:ext cx="100858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Вернуть менторов-практиков. Запустить B2B-продукт. Масштабировать IT-колледж. Выйти в Казахстан и Узбекистан.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044184"/>
            <a:ext cx="11274552" cy="539496"/>
          </a:xfrm>
          <a:prstGeom prst="roundRect">
            <a:avLst>
              <a:gd name="adj" fmla="val 20339"/>
            </a:avLst>
          </a:prstGeom>
          <a:solidFill>
            <a:srgbClr val="252538"/>
          </a:solidFill>
          <a:ln w="12700">
            <a:solidFill>
              <a:srgbClr val="2525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044184"/>
            <a:ext cx="1127455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13562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0C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Контактная информация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6153912"/>
            <a:ext cx="6062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D2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2026-05-18T09:28:08Z</dcterms:created>
  <dcterms:modified xsi:type="dcterms:W3CDTF">2026-05-18T09:28:08Z</dcterms:modified>
</cp:coreProperties>
</file>
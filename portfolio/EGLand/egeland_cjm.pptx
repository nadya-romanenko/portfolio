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32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88000" cy="6858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3200" cy="90000"/>
          </a:xfrm>
          <a:prstGeom prst="rect">
            <a:avLst/>
          </a:prstGeom>
          <a:solidFill>
            <a:srgbClr val="C8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0000" y="1440000"/>
            <a:ext cx="10440000" cy="1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Arial"/>
              </a:rPr>
              <a:t>CJM: путь родителя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0000" y="2628000"/>
            <a:ext cx="540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C8FF00"/>
                </a:solidFill>
                <a:latin typeface="Arial"/>
              </a:rPr>
              <a:t>ЕГЭ Лэнд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0000" y="3384000"/>
            <a:ext cx="1008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1">
                <a:solidFill>
                  <a:srgbClr val="888888"/>
                </a:solidFill>
                <a:latin typeface="Arial"/>
              </a:rPr>
              <a:t>Исследование воронки перед откликом на вакансию PMM/Growth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0000" y="5940000"/>
            <a:ext cx="720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888888"/>
                </a:solidFill>
                <a:latin typeface="Arial"/>
              </a:rPr>
              <a:t>Надя Романенко</a:t>
            </a:r>
          </a:p>
        </p:txBody>
      </p:sp>
      <p:sp>
        <p:nvSpPr>
          <p:cNvPr id="9" name="Oval 8"/>
          <p:cNvSpPr/>
          <p:nvPr/>
        </p:nvSpPr>
        <p:spPr>
          <a:xfrm>
            <a:off x="9720000" y="360000"/>
            <a:ext cx="2160000" cy="2160000"/>
          </a:xfrm>
          <a:prstGeom prst="ellipse">
            <a:avLst/>
          </a:prstGeom>
          <a:solidFill>
            <a:srgbClr val="201040"/>
          </a:solidFill>
          <a:ln w="254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540000" y="900000"/>
            <a:ext cx="252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7C3AED"/>
                </a:solidFill>
                <a:latin typeface="Arial"/>
              </a:rPr>
              <a:t>egeland.ru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90000"/>
          </a:xfrm>
          <a:prstGeom prst="rect">
            <a:avLst/>
          </a:prstGeom>
          <a:solidFill>
            <a:srgbClr val="C8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0000" y="144000"/>
            <a:ext cx="216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C8FF00"/>
                </a:solidFill>
                <a:latin typeface="Arial"/>
              </a:rPr>
              <a:t>Шаг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20000" y="108000"/>
            <a:ext cx="9000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Arial"/>
              </a:rPr>
              <a:t>Лендинг — вкладка «Родитель»</a:t>
            </a:r>
          </a:p>
        </p:txBody>
      </p:sp>
      <p:pic>
        <p:nvPicPr>
          <p:cNvPr id="6" name="Picture 5" descr="01_land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000" y="648000"/>
            <a:ext cx="6840000" cy="59400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7380000" y="648000"/>
            <a:ext cx="4500000" cy="828000"/>
          </a:xfrm>
          <a:prstGeom prst="roundRect">
            <a:avLst/>
          </a:prstGeom>
          <a:solidFill>
            <a:srgbClr val="FFF176"/>
          </a:solidFill>
          <a:ln w="12700">
            <a:solidFill>
              <a:srgbClr val="DDC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</a:pPr>
            <a:r>
              <a:rPr sz="1400" b="0">
                <a:solidFill>
                  <a:srgbClr val="1A1A1A"/>
                </a:solidFill>
                <a:latin typeface="Arial"/>
              </a:rPr>
              <a:t>✅ Оффер есть, УТП есть</a:t>
            </a:r>
          </a:p>
        </p:txBody>
      </p:sp>
      <p:sp>
        <p:nvSpPr>
          <p:cNvPr id="8" name="Rectangle 7"/>
          <p:cNvSpPr/>
          <p:nvPr/>
        </p:nvSpPr>
        <p:spPr>
          <a:xfrm>
            <a:off x="7380000" y="1656000"/>
            <a:ext cx="4500000" cy="1620000"/>
          </a:xfrm>
          <a:prstGeom prst="roundRect">
            <a:avLst/>
          </a:prstGeom>
          <a:solidFill>
            <a:srgbClr val="FFF176"/>
          </a:solidFill>
          <a:ln w="12700">
            <a:solidFill>
              <a:srgbClr val="DDC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</a:pPr>
            <a:r>
              <a:rPr sz="1400" b="0">
                <a:solidFill>
                  <a:srgbClr val="1A1A1A"/>
                </a:solidFill>
                <a:latin typeface="Arial"/>
              </a:rPr>
              <a:t>⚠️ «Выбери класс» — смешение ролей:</a:t>
            </a:r>
          </a:p>
          <a:p>
            <a:pPr>
              <a:spcBef>
                <a:spcPts val="400"/>
              </a:spcBef>
            </a:pPr>
            <a:r>
              <a:rPr sz="1400" b="0">
                <a:solidFill>
                  <a:srgbClr val="1A1A1A"/>
                </a:solidFill>
                <a:latin typeface="Arial"/>
              </a:rPr>
              <a:t>я во вкладке Родитель, но форма</a:t>
            </a:r>
          </a:p>
          <a:p>
            <a:pPr>
              <a:spcBef>
                <a:spcPts val="400"/>
              </a:spcBef>
            </a:pPr>
            <a:r>
              <a:rPr sz="1400" b="0">
                <a:solidFill>
                  <a:srgbClr val="1A1A1A"/>
                </a:solidFill>
                <a:latin typeface="Arial"/>
              </a:rPr>
              <a:t>спрашивает про меня, а не про ребёнка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90000"/>
          </a:xfrm>
          <a:prstGeom prst="rect">
            <a:avLst/>
          </a:prstGeom>
          <a:solidFill>
            <a:srgbClr val="C8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0000" y="144000"/>
            <a:ext cx="216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C8FF00"/>
                </a:solidFill>
                <a:latin typeface="Arial"/>
              </a:rPr>
              <a:t>Шаг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20000" y="108000"/>
            <a:ext cx="9000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Arial"/>
              </a:rPr>
              <a:t>Шаг «Кто вы» — выбор роли</a:t>
            </a:r>
          </a:p>
        </p:txBody>
      </p:sp>
      <p:pic>
        <p:nvPicPr>
          <p:cNvPr id="6" name="Picture 5" descr="02_role_sele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000" y="648000"/>
            <a:ext cx="6840000" cy="59400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7380000" y="648000"/>
            <a:ext cx="4500000" cy="1620000"/>
          </a:xfrm>
          <a:prstGeom prst="roundRect">
            <a:avLst/>
          </a:prstGeom>
          <a:solidFill>
            <a:srgbClr val="FFF176"/>
          </a:solidFill>
          <a:ln w="12700">
            <a:solidFill>
              <a:srgbClr val="DDC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</a:pPr>
            <a:r>
              <a:rPr sz="1400" b="0">
                <a:solidFill>
                  <a:srgbClr val="1A1A1A"/>
                </a:solidFill>
                <a:latin typeface="Arial"/>
              </a:rPr>
              <a:t>Воронка разделяет ученика и родителя —</a:t>
            </a:r>
          </a:p>
          <a:p>
            <a:pPr>
              <a:spcBef>
                <a:spcPts val="400"/>
              </a:spcBef>
            </a:pPr>
            <a:r>
              <a:rPr sz="1400" b="0">
                <a:solidFill>
                  <a:srgbClr val="1A1A1A"/>
                </a:solidFill>
                <a:latin typeface="Arial"/>
              </a:rPr>
              <a:t>но ведёт их по одинаковому пути.</a:t>
            </a:r>
          </a:p>
          <a:p>
            <a:pPr>
              <a:spcBef>
                <a:spcPts val="400"/>
              </a:spcBef>
            </a:pPr>
            <a:r>
              <a:rPr sz="1400" b="0">
                <a:solidFill>
                  <a:srgbClr val="1A1A1A"/>
                </a:solidFill>
                <a:latin typeface="Arial"/>
              </a:rPr>
              <a:t>В чём тогда смысл разделения?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90000"/>
          </a:xfrm>
          <a:prstGeom prst="rect">
            <a:avLst/>
          </a:prstGeom>
          <a:solidFill>
            <a:srgbClr val="C8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0000" y="144000"/>
            <a:ext cx="216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C8FF00"/>
                </a:solidFill>
                <a:latin typeface="Arial"/>
              </a:rPr>
              <a:t>Шаг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20000" y="108000"/>
            <a:ext cx="9000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Arial"/>
              </a:rPr>
              <a:t>Шаг «Класс» — повторный вопрос</a:t>
            </a:r>
          </a:p>
        </p:txBody>
      </p:sp>
      <p:pic>
        <p:nvPicPr>
          <p:cNvPr id="6" name="Picture 5" descr="03_class_sele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000" y="648000"/>
            <a:ext cx="6840000" cy="59400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7380000" y="648000"/>
            <a:ext cx="4500000" cy="1224000"/>
          </a:xfrm>
          <a:prstGeom prst="roundRect">
            <a:avLst/>
          </a:prstGeom>
          <a:solidFill>
            <a:srgbClr val="FFF176"/>
          </a:solidFill>
          <a:ln w="12700">
            <a:solidFill>
              <a:srgbClr val="DDC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</a:pPr>
            <a:r>
              <a:rPr sz="1400" b="0">
                <a:solidFill>
                  <a:srgbClr val="1A1A1A"/>
                </a:solidFill>
                <a:latin typeface="Arial"/>
              </a:rPr>
              <a:t>⚠️ Повторяется вопрос — класс уже</a:t>
            </a:r>
          </a:p>
          <a:p>
            <a:pPr>
              <a:spcBef>
                <a:spcPts val="400"/>
              </a:spcBef>
            </a:pPr>
            <a:r>
              <a:rPr sz="1400" b="0">
                <a:solidFill>
                  <a:srgbClr val="1A1A1A"/>
                </a:solidFill>
                <a:latin typeface="Arial"/>
              </a:rPr>
              <a:t>спрашивали на лендинге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90000"/>
          </a:xfrm>
          <a:prstGeom prst="rect">
            <a:avLst/>
          </a:prstGeom>
          <a:solidFill>
            <a:srgbClr val="C8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0000" y="144000"/>
            <a:ext cx="216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C8FF00"/>
                </a:solidFill>
                <a:latin typeface="Arial"/>
              </a:rPr>
              <a:t>Шаг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20000" y="108000"/>
            <a:ext cx="9000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Arial"/>
              </a:rPr>
              <a:t>Шаг «Предметы»</a:t>
            </a:r>
          </a:p>
        </p:txBody>
      </p:sp>
      <p:pic>
        <p:nvPicPr>
          <p:cNvPr id="6" name="Picture 5" descr="04_subjec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000" y="648000"/>
            <a:ext cx="6840000" cy="59400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7380000" y="648000"/>
            <a:ext cx="4500000" cy="2016000"/>
          </a:xfrm>
          <a:prstGeom prst="roundRect">
            <a:avLst/>
          </a:prstGeom>
          <a:solidFill>
            <a:srgbClr val="FFF176"/>
          </a:solidFill>
          <a:ln w="12700">
            <a:solidFill>
              <a:srgbClr val="DDC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</a:pPr>
            <a:r>
              <a:rPr sz="1400" b="0">
                <a:solidFill>
                  <a:srgbClr val="1A1A1A"/>
                </a:solidFill>
                <a:latin typeface="Arial"/>
              </a:rPr>
              <a:t>Кнопка «Узнать подробности»</a:t>
            </a:r>
          </a:p>
          <a:p>
            <a:pPr>
              <a:spcBef>
                <a:spcPts val="400"/>
              </a:spcBef>
            </a:pPr>
            <a:r>
              <a:rPr sz="1400" b="0">
                <a:solidFill>
                  <a:srgbClr val="1A1A1A"/>
                </a:solidFill>
                <a:latin typeface="Arial"/>
              </a:rPr>
              <a:t>перебрасывает на бота — кажется,</a:t>
            </a:r>
          </a:p>
          <a:p>
            <a:pPr>
              <a:spcBef>
                <a:spcPts val="400"/>
              </a:spcBef>
            </a:pPr>
            <a:r>
              <a:rPr sz="1400" b="0">
                <a:solidFill>
                  <a:srgbClr val="1A1A1A"/>
                </a:solidFill>
                <a:latin typeface="Arial"/>
              </a:rPr>
              <a:t>там отвечают реальные люди.</a:t>
            </a:r>
          </a:p>
          <a:p>
            <a:pPr>
              <a:spcBef>
                <a:spcPts val="400"/>
              </a:spcBef>
            </a:pPr>
            <a:r>
              <a:rPr sz="1400" b="0">
                <a:solidFill>
                  <a:srgbClr val="1A1A1A"/>
                </a:solidFill>
                <a:latin typeface="Arial"/>
              </a:rPr>
              <a:t>Это не очевидно пользователю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90000"/>
          </a:xfrm>
          <a:prstGeom prst="rect">
            <a:avLst/>
          </a:prstGeom>
          <a:solidFill>
            <a:srgbClr val="C8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0000" y="144000"/>
            <a:ext cx="216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C8FF00"/>
                </a:solidFill>
                <a:latin typeface="Arial"/>
              </a:rPr>
              <a:t>Шаг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20000" y="108000"/>
            <a:ext cx="9000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Arial"/>
              </a:rPr>
              <a:t>Апселл — третий предмет</a:t>
            </a:r>
          </a:p>
        </p:txBody>
      </p:sp>
      <p:pic>
        <p:nvPicPr>
          <p:cNvPr id="6" name="Picture 5" descr="05_upse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000" y="648000"/>
            <a:ext cx="6840000" cy="59400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7380000" y="648000"/>
            <a:ext cx="4500000" cy="1224000"/>
          </a:xfrm>
          <a:prstGeom prst="roundRect">
            <a:avLst/>
          </a:prstGeom>
          <a:solidFill>
            <a:srgbClr val="FFF176"/>
          </a:solidFill>
          <a:ln w="12700">
            <a:solidFill>
              <a:srgbClr val="DDC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</a:pPr>
            <a:r>
              <a:rPr sz="1400" b="0">
                <a:solidFill>
                  <a:srgbClr val="1A1A1A"/>
                </a:solidFill>
                <a:latin typeface="Arial"/>
              </a:rPr>
              <a:t>💡 Механика увеличения среднего чека —</a:t>
            </a:r>
          </a:p>
          <a:p>
            <a:pPr>
              <a:spcBef>
                <a:spcPts val="400"/>
              </a:spcBef>
            </a:pPr>
            <a:r>
              <a:rPr sz="1400" b="0">
                <a:solidFill>
                  <a:srgbClr val="1A1A1A"/>
                </a:solidFill>
                <a:latin typeface="Arial"/>
              </a:rPr>
              <a:t>третий предмет бесплатно летом. Грамотно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90000"/>
          </a:xfrm>
          <a:prstGeom prst="rect">
            <a:avLst/>
          </a:prstGeom>
          <a:solidFill>
            <a:srgbClr val="C8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0000" y="144000"/>
            <a:ext cx="216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C8FF00"/>
                </a:solidFill>
                <a:latin typeface="Arial"/>
              </a:rPr>
              <a:t>Шаг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20000" y="108000"/>
            <a:ext cx="9000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Arial"/>
              </a:rPr>
              <a:t>Тариф Стандарт</a:t>
            </a:r>
          </a:p>
        </p:txBody>
      </p:sp>
      <p:pic>
        <p:nvPicPr>
          <p:cNvPr id="6" name="Picture 5" descr="06_tariff_stand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000" y="648000"/>
            <a:ext cx="6840000" cy="59400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7380000" y="648000"/>
            <a:ext cx="4500000" cy="828000"/>
          </a:xfrm>
          <a:prstGeom prst="roundRect">
            <a:avLst/>
          </a:prstGeom>
          <a:solidFill>
            <a:srgbClr val="FFF176"/>
          </a:solidFill>
          <a:ln w="12700">
            <a:solidFill>
              <a:srgbClr val="DDC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</a:pPr>
            <a:r>
              <a:rPr sz="1400" b="0">
                <a:solidFill>
                  <a:srgbClr val="1A1A1A"/>
                </a:solidFill>
                <a:latin typeface="Arial"/>
              </a:rPr>
              <a:t>❓ Незакрытые вопросы:</a:t>
            </a:r>
          </a:p>
        </p:txBody>
      </p:sp>
      <p:sp>
        <p:nvSpPr>
          <p:cNvPr id="8" name="Rectangle 7"/>
          <p:cNvSpPr/>
          <p:nvPr/>
        </p:nvSpPr>
        <p:spPr>
          <a:xfrm>
            <a:off x="7380000" y="1656000"/>
            <a:ext cx="4500000" cy="1224000"/>
          </a:xfrm>
          <a:prstGeom prst="roundRect">
            <a:avLst/>
          </a:prstGeom>
          <a:solidFill>
            <a:srgbClr val="FFF176"/>
          </a:solidFill>
          <a:ln w="12700">
            <a:solidFill>
              <a:srgbClr val="DDC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</a:pPr>
            <a:r>
              <a:rPr sz="1400" b="0">
                <a:solidFill>
                  <a:srgbClr val="1A1A1A"/>
                </a:solidFill>
                <a:latin typeface="Arial"/>
              </a:rPr>
              <a:t>Кем составляется индивидуальная</a:t>
            </a:r>
          </a:p>
          <a:p>
            <a:pPr>
              <a:spcBef>
                <a:spcPts val="400"/>
              </a:spcBef>
            </a:pPr>
            <a:r>
              <a:rPr sz="1400" b="0">
                <a:solidFill>
                  <a:srgbClr val="1A1A1A"/>
                </a:solidFill>
                <a:latin typeface="Arial"/>
              </a:rPr>
              <a:t>траектория?</a:t>
            </a:r>
          </a:p>
        </p:txBody>
      </p:sp>
      <p:sp>
        <p:nvSpPr>
          <p:cNvPr id="9" name="Rectangle 8"/>
          <p:cNvSpPr/>
          <p:nvPr/>
        </p:nvSpPr>
        <p:spPr>
          <a:xfrm>
            <a:off x="7380000" y="3060000"/>
            <a:ext cx="4500000" cy="828000"/>
          </a:xfrm>
          <a:prstGeom prst="roundRect">
            <a:avLst/>
          </a:prstGeom>
          <a:solidFill>
            <a:srgbClr val="FFF176"/>
          </a:solidFill>
          <a:ln w="12700">
            <a:solidFill>
              <a:srgbClr val="DDC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</a:pPr>
            <a:r>
              <a:rPr sz="1400" b="0">
                <a:solidFill>
                  <a:srgbClr val="1A1A1A"/>
                </a:solidFill>
                <a:latin typeface="Arial"/>
              </a:rPr>
              <a:t>Как выглядит помощь с домашками?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90000"/>
          </a:xfrm>
          <a:prstGeom prst="rect">
            <a:avLst/>
          </a:prstGeom>
          <a:solidFill>
            <a:srgbClr val="C8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0000" y="144000"/>
            <a:ext cx="216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C8FF00"/>
                </a:solidFill>
                <a:latin typeface="Arial"/>
              </a:rPr>
              <a:t>Шаг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20000" y="108000"/>
            <a:ext cx="9000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Arial"/>
              </a:rPr>
              <a:t>Тариф Премиум</a:t>
            </a:r>
          </a:p>
        </p:txBody>
      </p:sp>
      <p:pic>
        <p:nvPicPr>
          <p:cNvPr id="6" name="Picture 5" descr="07_tariff_premiu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000" y="648000"/>
            <a:ext cx="6840000" cy="59400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7380000" y="648000"/>
            <a:ext cx="4500000" cy="1224000"/>
          </a:xfrm>
          <a:prstGeom prst="roundRect">
            <a:avLst/>
          </a:prstGeom>
          <a:solidFill>
            <a:srgbClr val="FFF176"/>
          </a:solidFill>
          <a:ln w="12700">
            <a:solidFill>
              <a:srgbClr val="DDC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</a:pPr>
            <a:r>
              <a:rPr sz="1400" b="0">
                <a:solidFill>
                  <a:srgbClr val="1A1A1A"/>
                </a:solidFill>
                <a:latin typeface="Arial"/>
              </a:rPr>
              <a:t>❓ Ускоренная проверка — а сколько ждать</a:t>
            </a:r>
          </a:p>
          <a:p>
            <a:pPr>
              <a:spcBef>
                <a:spcPts val="400"/>
              </a:spcBef>
            </a:pPr>
            <a:r>
              <a:rPr sz="1400" b="0">
                <a:solidFill>
                  <a:srgbClr val="1A1A1A"/>
                </a:solidFill>
                <a:latin typeface="Arial"/>
              </a:rPr>
              <a:t>в Стандарте?</a:t>
            </a:r>
          </a:p>
        </p:txBody>
      </p:sp>
      <p:sp>
        <p:nvSpPr>
          <p:cNvPr id="8" name="Rectangle 7"/>
          <p:cNvSpPr/>
          <p:nvPr/>
        </p:nvSpPr>
        <p:spPr>
          <a:xfrm>
            <a:off x="7380000" y="2052000"/>
            <a:ext cx="4500000" cy="828000"/>
          </a:xfrm>
          <a:prstGeom prst="roundRect">
            <a:avLst/>
          </a:prstGeom>
          <a:solidFill>
            <a:srgbClr val="FFF176"/>
          </a:solidFill>
          <a:ln w="12700">
            <a:solidFill>
              <a:srgbClr val="DDC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</a:pPr>
            <a:r>
              <a:rPr sz="1400" b="0">
                <a:solidFill>
                  <a:srgbClr val="1A1A1A"/>
                </a:solidFill>
                <a:latin typeface="Arial"/>
              </a:rPr>
              <a:t>Мини-группа до 20 — сколько в обычной?</a:t>
            </a:r>
          </a:p>
        </p:txBody>
      </p:sp>
      <p:sp>
        <p:nvSpPr>
          <p:cNvPr id="9" name="Rectangle 8"/>
          <p:cNvSpPr/>
          <p:nvPr/>
        </p:nvSpPr>
        <p:spPr>
          <a:xfrm>
            <a:off x="7380000" y="3060000"/>
            <a:ext cx="4500000" cy="828000"/>
          </a:xfrm>
          <a:prstGeom prst="roundRect">
            <a:avLst/>
          </a:prstGeom>
          <a:solidFill>
            <a:srgbClr val="FFF176"/>
          </a:solidFill>
          <a:ln w="12700">
            <a:solidFill>
              <a:srgbClr val="DDC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</a:pPr>
            <a:r>
              <a:rPr sz="1400" b="0">
                <a:solidFill>
                  <a:srgbClr val="1A1A1A"/>
                </a:solidFill>
                <a:latin typeface="Arial"/>
              </a:rPr>
              <a:t>Как выглядит поддержка психолога?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90000"/>
          </a:xfrm>
          <a:prstGeom prst="rect">
            <a:avLst/>
          </a:prstGeom>
          <a:solidFill>
            <a:srgbClr val="C8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180000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Arial"/>
              </a:rPr>
              <a:t>Что я вижу как PMM</a:t>
            </a:r>
          </a:p>
        </p:txBody>
      </p:sp>
      <p:sp>
        <p:nvSpPr>
          <p:cNvPr id="5" name="Oval 4"/>
          <p:cNvSpPr/>
          <p:nvPr/>
        </p:nvSpPr>
        <p:spPr>
          <a:xfrm>
            <a:off x="720000" y="1493999"/>
            <a:ext cx="251999" cy="251999"/>
          </a:xfrm>
          <a:prstGeom prst="ellipse">
            <a:avLst/>
          </a:prstGeom>
          <a:solidFill>
            <a:srgbClr val="C8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16000" y="1368000"/>
            <a:ext cx="10260000" cy="1152000"/>
          </a:xfrm>
          <a:prstGeom prst="rect">
            <a:avLst/>
          </a:prstGeom>
          <a:solidFill>
            <a:srgbClr val="281848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000"/>
              </a:spcBef>
            </a:pPr>
            <a:r>
              <a:rPr sz="1800" b="0">
                <a:solidFill>
                  <a:srgbClr val="FFFFFF"/>
                </a:solidFill>
                <a:latin typeface="Arial"/>
              </a:rPr>
              <a:t>Воронка технически разделена на две ЦА — но не работает с их разными страхами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6800" y="1440000"/>
            <a:ext cx="18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A1A1A"/>
                </a:solidFill>
                <a:latin typeface="Arial"/>
              </a:rPr>
              <a:t>1</a:t>
            </a:r>
          </a:p>
        </p:txBody>
      </p:sp>
      <p:sp>
        <p:nvSpPr>
          <p:cNvPr id="8" name="Oval 7"/>
          <p:cNvSpPr/>
          <p:nvPr/>
        </p:nvSpPr>
        <p:spPr>
          <a:xfrm>
            <a:off x="720000" y="3077998"/>
            <a:ext cx="251999" cy="251999"/>
          </a:xfrm>
          <a:prstGeom prst="ellipse">
            <a:avLst/>
          </a:prstGeom>
          <a:solidFill>
            <a:srgbClr val="C8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16000" y="2951999"/>
            <a:ext cx="10260000" cy="1152000"/>
          </a:xfrm>
          <a:prstGeom prst="rect">
            <a:avLst/>
          </a:prstGeom>
          <a:solidFill>
            <a:srgbClr val="281848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000"/>
              </a:spcBef>
            </a:pPr>
            <a:r>
              <a:rPr sz="1800" b="0">
                <a:solidFill>
                  <a:srgbClr val="FFFFFF"/>
                </a:solidFill>
                <a:latin typeface="Arial"/>
              </a:rPr>
              <a:t>6+ незакрытых вопросов у родителя до оплаты — это и есть потеря денег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6800" y="3023999"/>
            <a:ext cx="18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A1A1A"/>
                </a:solidFill>
                <a:latin typeface="Arial"/>
              </a:rPr>
              <a:t>2</a:t>
            </a:r>
          </a:p>
        </p:txBody>
      </p:sp>
      <p:sp>
        <p:nvSpPr>
          <p:cNvPr id="11" name="Oval 10"/>
          <p:cNvSpPr/>
          <p:nvPr/>
        </p:nvSpPr>
        <p:spPr>
          <a:xfrm>
            <a:off x="720000" y="4625999"/>
            <a:ext cx="251999" cy="251999"/>
          </a:xfrm>
          <a:prstGeom prst="ellipse">
            <a:avLst/>
          </a:prstGeom>
          <a:solidFill>
            <a:srgbClr val="C8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116000" y="4500000"/>
            <a:ext cx="10260000" cy="1152000"/>
          </a:xfrm>
          <a:prstGeom prst="rect">
            <a:avLst/>
          </a:prstGeom>
          <a:solidFill>
            <a:srgbClr val="281848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000"/>
              </a:spcBef>
            </a:pPr>
            <a:r>
              <a:rPr sz="1800" b="0">
                <a:solidFill>
                  <a:srgbClr val="FFFFFF"/>
                </a:solidFill>
                <a:latin typeface="Arial"/>
              </a:rPr>
              <a:t>Знаю как это чинить: CJM → гипотезы → цифры. Кейсы прилагаются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6800" y="4572000"/>
            <a:ext cx="18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A1A1A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